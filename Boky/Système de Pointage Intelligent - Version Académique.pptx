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Roboto ExtraBold"/>
      <p:bold r:id="rId17"/>
      <p:boldItalic r:id="rId18"/>
    </p:embeddedFont>
    <p:embeddedFont>
      <p:font typeface="Montserrat SemiBold"/>
      <p:regular r:id="rId19"/>
      <p:bold r:id="rId20"/>
      <p:italic r:id="rId21"/>
      <p:boldItalic r:id="rId22"/>
    </p:embeddedFont>
    <p:embeddedFont>
      <p:font typeface="Roboto"/>
      <p:regular r:id="rId23"/>
      <p:bold r:id="rId24"/>
      <p:italic r:id="rId25"/>
      <p:boldItalic r:id="rId26"/>
    </p:embeddedFont>
    <p:embeddedFont>
      <p:font typeface="Roboto Medium"/>
      <p:regular r:id="rId27"/>
      <p:bold r:id="rId28"/>
      <p:italic r:id="rId29"/>
      <p:boldItalic r:id="rId30"/>
    </p:embeddedFont>
    <p:embeddedFont>
      <p:font typeface="Montserrat"/>
      <p:regular r:id="rId31"/>
      <p:bold r:id="rId32"/>
      <p:italic r:id="rId33"/>
      <p:boldItalic r:id="rId34"/>
    </p:embeddedFont>
    <p:embeddedFont>
      <p:font typeface="Roboto SemiBold"/>
      <p:regular r:id="rId35"/>
      <p:bold r:id="rId36"/>
      <p:italic r:id="rId37"/>
      <p:boldItalic r:id="rId38"/>
    </p:embeddedFont>
    <p:embeddedFont>
      <p:font typeface="Montserrat ExtraBold"/>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ExtraBold-boldItalic.fntdata"/><Relationship Id="rId20" Type="http://schemas.openxmlformats.org/officeDocument/2006/relationships/font" Target="fonts/MontserratSemiBold-bold.fntdata"/><Relationship Id="rId22" Type="http://schemas.openxmlformats.org/officeDocument/2006/relationships/font" Target="fonts/MontserratSemiBold-boldItalic.fntdata"/><Relationship Id="rId21" Type="http://schemas.openxmlformats.org/officeDocument/2006/relationships/font" Target="fonts/MontserratSemiBold-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RobotoMedium-bold.fntdata"/><Relationship Id="rId27" Type="http://schemas.openxmlformats.org/officeDocument/2006/relationships/font" Target="fonts/Roboto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RobotoMedium-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RobotoSemiBold-regular.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RobotoSemiBold-italic.fntdata"/><Relationship Id="rId14" Type="http://schemas.openxmlformats.org/officeDocument/2006/relationships/slide" Target="slides/slide9.xml"/><Relationship Id="rId36" Type="http://schemas.openxmlformats.org/officeDocument/2006/relationships/font" Target="fonts/RobotoSemiBold-bold.fntdata"/><Relationship Id="rId17" Type="http://schemas.openxmlformats.org/officeDocument/2006/relationships/font" Target="fonts/RobotoExtraBold-bold.fntdata"/><Relationship Id="rId39" Type="http://schemas.openxmlformats.org/officeDocument/2006/relationships/font" Target="fonts/MontserratExtraBold-bold.fntdata"/><Relationship Id="rId16" Type="http://schemas.openxmlformats.org/officeDocument/2006/relationships/slide" Target="slides/slide11.xml"/><Relationship Id="rId38" Type="http://schemas.openxmlformats.org/officeDocument/2006/relationships/font" Target="fonts/RobotoSemiBold-boldItalic.fntdata"/><Relationship Id="rId19" Type="http://schemas.openxmlformats.org/officeDocument/2006/relationships/font" Target="fonts/MontserratSemiBold-regular.fntdata"/><Relationship Id="rId18" Type="http://schemas.openxmlformats.org/officeDocument/2006/relationships/font" Target="fonts/RobotoExtra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chemeClr val="dk1"/>
                </a:solidFill>
              </a:rPr>
              <a:t>« Monsieur le Président du jury,mes colegues. Je suis </a:t>
            </a:r>
            <a:r>
              <a:rPr b="1" lang="en-US" sz="2300">
                <a:solidFill>
                  <a:schemeClr val="dk1"/>
                </a:solidFill>
              </a:rPr>
              <a:t>SOLOFOTIANA Herimanda Fanantenana</a:t>
            </a:r>
            <a:r>
              <a:rPr lang="en-US" sz="2300">
                <a:solidFill>
                  <a:schemeClr val="dk1"/>
                </a:solidFill>
              </a:rPr>
              <a:t>, étudiant en Master 1, Mention Intelligence Artificielle, Parcours Objets Connectés et Cybersécurité. J'ai l'honneur de vous présenter aujourd'hui mon rapport de projet intitulé : </a:t>
            </a:r>
            <a:r>
              <a:rPr b="1" lang="en-US" sz="2300">
                <a:solidFill>
                  <a:schemeClr val="dk1"/>
                </a:solidFill>
              </a:rPr>
              <a:t>"</a:t>
            </a:r>
            <a:r>
              <a:rPr b="1" lang="en-US" sz="1700">
                <a:solidFill>
                  <a:srgbClr val="1E3A8A"/>
                </a:solidFill>
                <a:latin typeface="Montserrat"/>
                <a:ea typeface="Montserrat"/>
                <a:cs typeface="Montserrat"/>
                <a:sym typeface="Montserrat"/>
              </a:rPr>
              <a:t>SY</a:t>
            </a:r>
            <a:r>
              <a:rPr b="1" lang="en-US" sz="1700">
                <a:solidFill>
                  <a:srgbClr val="1E3A8A"/>
                </a:solidFill>
                <a:latin typeface="Times New Roman"/>
                <a:ea typeface="Times New Roman"/>
                <a:cs typeface="Times New Roman"/>
                <a:sym typeface="Times New Roman"/>
              </a:rPr>
              <a:t>STÈME DIGITALISATION ET POINTAGE DES PRÉSENCES INTELLIGENT</a:t>
            </a:r>
            <a:r>
              <a:rPr b="1" lang="en-US" sz="2300">
                <a:solidFill>
                  <a:schemeClr val="dk1"/>
                </a:solidFill>
              </a:rPr>
              <a:t> </a:t>
            </a:r>
            <a:r>
              <a:rPr b="1" lang="en-US" sz="2300">
                <a:solidFill>
                  <a:srgbClr val="1E3A8A"/>
                </a:solidFill>
              </a:rPr>
              <a:t>par Reconnaissance Faciale</a:t>
            </a:r>
            <a:r>
              <a:rPr b="1" lang="en-US" sz="2300">
                <a:solidFill>
                  <a:schemeClr val="dk1"/>
                </a:solidFill>
              </a:rPr>
              <a:t>"</a:t>
            </a:r>
            <a:r>
              <a:rPr lang="en-US" sz="2300">
                <a:solidFill>
                  <a:schemeClr val="dk1"/>
                </a:solidFill>
              </a:rPr>
              <a:t>. </a:t>
            </a:r>
            <a:r>
              <a:rPr lang="en-US" sz="2300">
                <a:solidFill>
                  <a:srgbClr val="980000"/>
                </a:solidFill>
              </a:rPr>
              <a:t>Ce travail a été réalisé au sein de l'École Nationale d'Informatique de l'Université de Fianarantsoa.</a:t>
            </a:r>
            <a:r>
              <a:rPr lang="en-US" sz="2300">
                <a:solidFill>
                  <a:schemeClr val="dk1"/>
                </a:solidFill>
              </a:rPr>
              <a:t> »</a:t>
            </a:r>
            <a:endParaRPr sz="2300"/>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d4111820f_2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d4111820f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 Pour commencer, il est important de noter que la gestion des présences est un pilier fondamental pour toute institution académique. Elle garantit la discipline, la sécurité et le suivi pédagogique. Cependant, nous sommes à une ère où la transformation numérique est impérative. Mon projet part d'un constat simple : nos méthodes de gestion actuelles vieillissent. L'objectif de ce travail est donc d'opérer une transition technologique en exploitant la puissance de l'</a:t>
            </a:r>
            <a:r>
              <a:rPr b="1" lang="en-US" sz="1800">
                <a:solidFill>
                  <a:schemeClr val="dk1"/>
                </a:solidFill>
              </a:rPr>
              <a:t>Intelligence Artificielle</a:t>
            </a:r>
            <a:r>
              <a:rPr lang="en-US" sz="1800">
                <a:solidFill>
                  <a:schemeClr val="dk1"/>
                </a:solidFill>
              </a:rPr>
              <a:t> et de l'</a:t>
            </a:r>
            <a:r>
              <a:rPr b="1" lang="en-US" sz="1800">
                <a:solidFill>
                  <a:schemeClr val="dk1"/>
                </a:solidFill>
              </a:rPr>
              <a:t>Internet des Objets (IoT)</a:t>
            </a:r>
            <a:r>
              <a:rPr lang="en-US" sz="1800">
                <a:solidFill>
                  <a:schemeClr val="dk1"/>
                </a:solidFill>
              </a:rPr>
              <a:t> pour moderniser radicalement ce processus. »</a:t>
            </a:r>
            <a:endParaRPr sz="1800"/>
          </a:p>
        </p:txBody>
      </p:sp>
      <p:sp>
        <p:nvSpPr>
          <p:cNvPr id="115" name="Google Shape;11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Analysons la situation actuelle. La majorité des pointages se fait encore sur papier. Ce système traditionnel présente trois failles majeures :</a:t>
            </a:r>
            <a:endParaRPr sz="1800">
              <a:solidFill>
                <a:schemeClr val="dk1"/>
              </a:solidFill>
            </a:endParaRPr>
          </a:p>
          <a:p>
            <a:pPr indent="-342900" lvl="0" marL="457200" rtl="0" algn="l">
              <a:lnSpc>
                <a:spcPct val="115000"/>
              </a:lnSpc>
              <a:spcBef>
                <a:spcPts val="1200"/>
              </a:spcBef>
              <a:spcAft>
                <a:spcPts val="0"/>
              </a:spcAft>
              <a:buClr>
                <a:srgbClr val="980000"/>
              </a:buClr>
              <a:buSzPts val="1800"/>
              <a:buAutoNum type="arabicPeriod"/>
            </a:pPr>
            <a:r>
              <a:rPr b="1" lang="en-US" sz="1800">
                <a:solidFill>
                  <a:srgbClr val="980000"/>
                </a:solidFill>
              </a:rPr>
              <a:t>La lenteur :</a:t>
            </a:r>
            <a:r>
              <a:rPr lang="en-US" sz="1800">
                <a:solidFill>
                  <a:srgbClr val="980000"/>
                </a:solidFill>
              </a:rPr>
              <a:t> Faire circuler une feuille prend du temps précieux sur le cours.</a:t>
            </a:r>
            <a:endParaRPr sz="1800">
              <a:solidFill>
                <a:srgbClr val="980000"/>
              </a:solidFill>
            </a:endParaRPr>
          </a:p>
          <a:p>
            <a:pPr indent="-342900" lvl="0" marL="457200" rtl="0" algn="l">
              <a:lnSpc>
                <a:spcPct val="115000"/>
              </a:lnSpc>
              <a:spcBef>
                <a:spcPts val="0"/>
              </a:spcBef>
              <a:spcAft>
                <a:spcPts val="0"/>
              </a:spcAft>
              <a:buClr>
                <a:srgbClr val="980000"/>
              </a:buClr>
              <a:buSzPts val="1800"/>
              <a:buAutoNum type="arabicPeriod"/>
            </a:pPr>
            <a:r>
              <a:rPr b="1" lang="en-US" sz="1800">
                <a:solidFill>
                  <a:srgbClr val="980000"/>
                </a:solidFill>
              </a:rPr>
              <a:t>Le manque de fiabilité :</a:t>
            </a:r>
            <a:r>
              <a:rPr lang="en-US" sz="1800">
                <a:solidFill>
                  <a:srgbClr val="980000"/>
                </a:solidFill>
              </a:rPr>
              <a:t> Les feuilles se perdent ou s'abîment.</a:t>
            </a:r>
            <a:endParaRPr sz="1800">
              <a:solidFill>
                <a:srgbClr val="980000"/>
              </a:solidFill>
            </a:endParaRPr>
          </a:p>
          <a:p>
            <a:pPr indent="-342900" lvl="0" marL="457200" rtl="0" algn="l">
              <a:lnSpc>
                <a:spcPct val="115000"/>
              </a:lnSpc>
              <a:spcBef>
                <a:spcPts val="0"/>
              </a:spcBef>
              <a:spcAft>
                <a:spcPts val="0"/>
              </a:spcAft>
              <a:buClr>
                <a:srgbClr val="980000"/>
              </a:buClr>
              <a:buSzPts val="1800"/>
              <a:buAutoNum type="arabicPeriod"/>
            </a:pPr>
            <a:r>
              <a:rPr b="1" lang="en-US" sz="1800">
                <a:solidFill>
                  <a:srgbClr val="980000"/>
                </a:solidFill>
              </a:rPr>
              <a:t>La fraude :</a:t>
            </a:r>
            <a:r>
              <a:rPr lang="en-US" sz="1800">
                <a:solidFill>
                  <a:srgbClr val="980000"/>
                </a:solidFill>
              </a:rPr>
              <a:t> C'est le point critique. La signature par procuration (un étudiant qui signe pour un absent) est une pratique courante et difficile à contrer. </a:t>
            </a:r>
            <a:r>
              <a:rPr b="1" lang="en-US" sz="1800">
                <a:solidFill>
                  <a:srgbClr val="980000"/>
                </a:solidFill>
              </a:rPr>
              <a:t>La problématique est donc la suivante :</a:t>
            </a:r>
            <a:r>
              <a:rPr lang="en-US" sz="1800">
                <a:solidFill>
                  <a:srgbClr val="980000"/>
                </a:solidFill>
              </a:rPr>
              <a:t> </a:t>
            </a:r>
            <a:r>
              <a:rPr b="1" lang="en-US" sz="1800">
                <a:solidFill>
                  <a:srgbClr val="980000"/>
                </a:solidFill>
              </a:rPr>
              <a:t>Comment concevoir un système de pointage entièrement automatisé et biométriquement sécurisé?</a:t>
            </a:r>
            <a:r>
              <a:rPr lang="en-US" sz="1800">
                <a:solidFill>
                  <a:srgbClr val="980000"/>
                </a:solidFill>
              </a:rPr>
              <a:t>»</a:t>
            </a:r>
            <a:endParaRPr sz="1800">
              <a:solidFill>
                <a:srgbClr val="980000"/>
              </a:solidFill>
            </a:endParaRPr>
          </a:p>
          <a:p>
            <a:pPr indent="0" lvl="0" marL="0" rtl="0" algn="l">
              <a:spcBef>
                <a:spcPts val="1200"/>
              </a:spcBef>
              <a:spcAft>
                <a:spcPts val="0"/>
              </a:spcAft>
              <a:buNone/>
            </a:pPr>
            <a:r>
              <a:t/>
            </a:r>
            <a:endParaRPr sz="1200"/>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 </a:t>
            </a:r>
            <a:r>
              <a:rPr lang="en-US" sz="1800" u="sng">
                <a:solidFill>
                  <a:schemeClr val="dk1"/>
                </a:solidFill>
              </a:rPr>
              <a:t>ET en suite: </a:t>
            </a:r>
            <a:r>
              <a:rPr lang="en-US" sz="1800">
                <a:solidFill>
                  <a:schemeClr val="dk1"/>
                </a:solidFill>
              </a:rPr>
              <a:t>Pour répondre à cette problématique, nous avons fixé quatre objectifs principaux pour ce projet : Premièrement, </a:t>
            </a:r>
            <a:r>
              <a:rPr b="1" lang="en-US" sz="1800">
                <a:solidFill>
                  <a:schemeClr val="dk1"/>
                </a:solidFill>
              </a:rPr>
              <a:t>l'Automatisation</a:t>
            </a:r>
            <a:r>
              <a:rPr lang="en-US" sz="1800">
                <a:solidFill>
                  <a:schemeClr val="dk1"/>
                </a:solidFill>
              </a:rPr>
              <a:t> : Le système doit reconnaître les personnes instantanément, qu'ils soient devant une borne locale ou via une caméra à distance. Deuxièmement, la </a:t>
            </a:r>
            <a:r>
              <a:rPr b="1" lang="en-US" sz="1800">
                <a:solidFill>
                  <a:schemeClr val="dk1"/>
                </a:solidFill>
              </a:rPr>
              <a:t>Sécurité</a:t>
            </a:r>
            <a:r>
              <a:rPr lang="en-US" sz="1800">
                <a:solidFill>
                  <a:schemeClr val="dk1"/>
                </a:solidFill>
              </a:rPr>
              <a:t> : En utilisant la biométrie (le visage), nous rendons la fraude par procuration impossible. Troisièmement, la </a:t>
            </a:r>
            <a:r>
              <a:rPr b="1" lang="en-US" sz="1800">
                <a:solidFill>
                  <a:schemeClr val="dk1"/>
                </a:solidFill>
              </a:rPr>
              <a:t>Traçabilité</a:t>
            </a:r>
            <a:r>
              <a:rPr lang="en-US" sz="1800">
                <a:solidFill>
                  <a:schemeClr val="dk1"/>
                </a:solidFill>
              </a:rPr>
              <a:t> : Chaque entrée est enregistrée dans une base de données fiable et consultable. Et enfin, l'</a:t>
            </a:r>
            <a:r>
              <a:rPr b="1" lang="en-US" sz="1800">
                <a:solidFill>
                  <a:schemeClr val="dk1"/>
                </a:solidFill>
              </a:rPr>
              <a:t>Expérience Utilisateur</a:t>
            </a:r>
            <a:r>
              <a:rPr lang="en-US" sz="1800">
                <a:solidFill>
                  <a:schemeClr val="dk1"/>
                </a:solidFill>
              </a:rPr>
              <a:t> : Offrir une interface Web simple pour que les administrateurs puissent gérer les flux et que les personnes puissent consulter leur statut. »</a:t>
            </a:r>
            <a:endParaRPr sz="1800"/>
          </a:p>
        </p:txBody>
      </p:sp>
      <p:sp>
        <p:nvSpPr>
          <p:cNvPr id="156" name="Google Shape;15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d5b0af5eb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d5b0af5e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800">
                <a:solidFill>
                  <a:schemeClr val="dk1"/>
                </a:solidFill>
              </a:rPr>
              <a:t>1. Le Défi Matériel</a:t>
            </a:r>
            <a:r>
              <a:rPr lang="en-US" sz="1600">
                <a:solidFill>
                  <a:schemeClr val="dk1"/>
                </a:solidFill>
              </a:rPr>
              <a:t> : Le terminal de reconnaissance faciale utilisé (Hikvision) a une </a:t>
            </a:r>
            <a:r>
              <a:rPr b="1" lang="en-US" sz="1600">
                <a:solidFill>
                  <a:schemeClr val="dk1"/>
                </a:solidFill>
              </a:rPr>
              <a:t>limite technique stricte de 1500 personnes</a:t>
            </a:r>
            <a:r>
              <a:rPr lang="en-US" sz="1600">
                <a:solidFill>
                  <a:schemeClr val="dk1"/>
                </a:solidFill>
              </a:rPr>
              <a:t>. Étant donné que l'établissement compte </a:t>
            </a:r>
            <a:r>
              <a:rPr b="1" lang="en-US" sz="1600">
                <a:solidFill>
                  <a:schemeClr val="dk1"/>
                </a:solidFill>
              </a:rPr>
              <a:t>plus de 10 000 personnes</a:t>
            </a:r>
            <a:r>
              <a:rPr lang="en-US" sz="1600">
                <a:solidFill>
                  <a:schemeClr val="dk1"/>
                </a:solidFill>
              </a:rPr>
              <a:t>, cette contrainte rendait le déploiement à l'échelle impossible avec le matériel seul.</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800">
                <a:solidFill>
                  <a:schemeClr val="dk1"/>
                </a:solidFill>
              </a:rPr>
              <a:t>2. L'Objectif Stratégique</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L'objectif principal du projet était de surmonter cette limite :</a:t>
            </a:r>
            <a:endParaRPr sz="1600">
              <a:solidFill>
                <a:schemeClr val="dk1"/>
              </a:solidFill>
            </a:endParaRPr>
          </a:p>
          <a:p>
            <a:pPr indent="-330200" lvl="0" marL="457200" rtl="0" algn="l">
              <a:lnSpc>
                <a:spcPct val="115000"/>
              </a:lnSpc>
              <a:spcBef>
                <a:spcPts val="1200"/>
              </a:spcBef>
              <a:spcAft>
                <a:spcPts val="0"/>
              </a:spcAft>
              <a:buClr>
                <a:srgbClr val="980000"/>
              </a:buClr>
              <a:buSzPts val="1600"/>
              <a:buChar char="●"/>
            </a:pPr>
            <a:r>
              <a:rPr b="1" lang="en-US" sz="1600">
                <a:solidFill>
                  <a:srgbClr val="980000"/>
                </a:solidFill>
              </a:rPr>
              <a:t>Gestion à Grande Échelle :</a:t>
            </a:r>
            <a:r>
              <a:rPr lang="en-US" sz="1600">
                <a:solidFill>
                  <a:srgbClr val="980000"/>
                </a:solidFill>
              </a:rPr>
              <a:t> Gérer efficacement les </a:t>
            </a:r>
            <a:r>
              <a:rPr b="1" lang="en-US" sz="1600">
                <a:solidFill>
                  <a:srgbClr val="980000"/>
                </a:solidFill>
              </a:rPr>
              <a:t>10 000+ étudiants</a:t>
            </a:r>
            <a:r>
              <a:rPr lang="en-US" sz="1600">
                <a:solidFill>
                  <a:srgbClr val="980000"/>
                </a:solidFill>
              </a:rPr>
              <a:t>.</a:t>
            </a:r>
            <a:endParaRPr sz="1800">
              <a:solidFill>
                <a:srgbClr val="980000"/>
              </a:solidFill>
            </a:endParaRPr>
          </a:p>
          <a:p>
            <a:pPr indent="-330200" lvl="0" marL="457200" rtl="0" algn="l">
              <a:lnSpc>
                <a:spcPct val="115000"/>
              </a:lnSpc>
              <a:spcBef>
                <a:spcPts val="0"/>
              </a:spcBef>
              <a:spcAft>
                <a:spcPts val="0"/>
              </a:spcAft>
              <a:buClr>
                <a:srgbClr val="980000"/>
              </a:buClr>
              <a:buSzPts val="1600"/>
              <a:buChar char="●"/>
            </a:pPr>
            <a:r>
              <a:rPr b="1" lang="en-US" sz="1600">
                <a:solidFill>
                  <a:srgbClr val="980000"/>
                </a:solidFill>
              </a:rPr>
              <a:t>Contrôle des Coûts :</a:t>
            </a:r>
            <a:r>
              <a:rPr lang="en-US" sz="1600">
                <a:solidFill>
                  <a:srgbClr val="980000"/>
                </a:solidFill>
              </a:rPr>
              <a:t> Éviter l'achat de matériel supplémentaire coûteux (multiples terminaux).</a:t>
            </a:r>
            <a:endParaRPr sz="1600">
              <a:solidFill>
                <a:srgbClr val="980000"/>
              </a:solidFill>
            </a:endParaRPr>
          </a:p>
          <a:p>
            <a:pPr indent="-330200" lvl="0" marL="457200" rtl="0" algn="l">
              <a:lnSpc>
                <a:spcPct val="115000"/>
              </a:lnSpc>
              <a:spcBef>
                <a:spcPts val="0"/>
              </a:spcBef>
              <a:spcAft>
                <a:spcPts val="0"/>
              </a:spcAft>
              <a:buClr>
                <a:srgbClr val="980000"/>
              </a:buClr>
              <a:buSzPts val="1600"/>
              <a:buChar char="●"/>
            </a:pPr>
            <a:r>
              <a:rPr b="1" lang="en-US" sz="1600">
                <a:solidFill>
                  <a:srgbClr val="980000"/>
                </a:solidFill>
              </a:rPr>
              <a:t>Efficacité :</a:t>
            </a:r>
            <a:r>
              <a:rPr lang="en-US" sz="1600">
                <a:solidFill>
                  <a:srgbClr val="980000"/>
                </a:solidFill>
              </a:rPr>
              <a:t> Assurer la haute fiabilité et la mise à jour en temps réel des données.</a:t>
            </a:r>
            <a:endParaRPr sz="1600">
              <a:solidFill>
                <a:srgbClr val="980000"/>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Passons maintenant au cœur technique de la solution. J'ai conçu une architecture IoT modulaire :</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en-US" sz="1800">
                <a:solidFill>
                  <a:schemeClr val="dk1"/>
                </a:solidFill>
              </a:rPr>
              <a:t>Pour l'acquisition (la couche perception)</a:t>
            </a:r>
            <a:r>
              <a:rPr lang="en-US" sz="1800">
                <a:solidFill>
                  <a:schemeClr val="dk1"/>
                </a:solidFill>
              </a:rPr>
              <a:t> : J'utilise des caméras intelligentes </a:t>
            </a:r>
            <a:r>
              <a:rPr b="1" lang="en-US" sz="1800">
                <a:solidFill>
                  <a:schemeClr val="dk1"/>
                </a:solidFill>
              </a:rPr>
              <a:t>Hikvision DS-K1T343EFWX</a:t>
            </a:r>
            <a:r>
              <a:rPr lang="en-US" sz="1800">
                <a:solidFill>
                  <a:schemeClr val="dk1"/>
                </a:solidFill>
              </a:rPr>
              <a:t>, reconnues pour leur précision.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Pour le Backend (le cerveau)</a:t>
            </a:r>
            <a:r>
              <a:rPr lang="en-US" sz="1800">
                <a:solidFill>
                  <a:schemeClr val="dk1"/>
                </a:solidFill>
              </a:rPr>
              <a:t> : J'ai choisi le framework </a:t>
            </a:r>
            <a:r>
              <a:rPr b="1" lang="en-US" sz="1800">
                <a:solidFill>
                  <a:schemeClr val="dk1"/>
                </a:solidFill>
              </a:rPr>
              <a:t>FastAPI</a:t>
            </a:r>
            <a:r>
              <a:rPr lang="en-US" sz="1800">
                <a:solidFill>
                  <a:schemeClr val="dk1"/>
                </a:solidFill>
              </a:rPr>
              <a:t> en Python. C'est un choix stratégique pour sa rapidité d'exécution asynchrone, indispensable pour le temps réel.</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Pour les Données</a:t>
            </a:r>
            <a:r>
              <a:rPr lang="en-US" sz="1800">
                <a:solidFill>
                  <a:schemeClr val="dk1"/>
                </a:solidFill>
              </a:rPr>
              <a:t> : Nous utilisons </a:t>
            </a:r>
            <a:r>
              <a:rPr b="1" lang="en-US" sz="1800">
                <a:solidFill>
                  <a:schemeClr val="dk1"/>
                </a:solidFill>
              </a:rPr>
              <a:t>MongoDB</a:t>
            </a:r>
            <a:r>
              <a:rPr lang="en-US" sz="1800">
                <a:solidFill>
                  <a:schemeClr val="dk1"/>
                </a:solidFill>
              </a:rPr>
              <a:t> pour la flexibilité des données des personnes et </a:t>
            </a:r>
            <a:r>
              <a:rPr b="1" lang="en-US" sz="1800">
                <a:solidFill>
                  <a:schemeClr val="dk1"/>
                </a:solidFill>
              </a:rPr>
              <a:t>Cloudinary</a:t>
            </a:r>
            <a:r>
              <a:rPr lang="en-US" sz="1800">
                <a:solidFill>
                  <a:schemeClr val="dk1"/>
                </a:solidFill>
              </a:rPr>
              <a:t> pour le stockage sécurisé des images dans le cloud.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L'Interface</a:t>
            </a:r>
            <a:r>
              <a:rPr lang="en-US" sz="1800">
                <a:solidFill>
                  <a:schemeClr val="dk1"/>
                </a:solidFill>
              </a:rPr>
              <a:t> est réalisée avec les standards Web modernes (HTML5,css 3, Bootstrap JS) pour être accessible sur tout type d'écran. »</a:t>
            </a:r>
            <a:endParaRPr sz="1800">
              <a:solidFill>
                <a:schemeClr val="dk1"/>
              </a:solidFill>
            </a:endParaRPr>
          </a:p>
          <a:p>
            <a:pPr indent="0" lvl="0" marL="0" rtl="0" algn="l">
              <a:spcBef>
                <a:spcPts val="1200"/>
              </a:spcBef>
              <a:spcAft>
                <a:spcPts val="0"/>
              </a:spcAft>
              <a:buNone/>
            </a:pPr>
            <a:r>
              <a:t/>
            </a:r>
            <a:endParaRPr/>
          </a:p>
        </p:txBody>
      </p:sp>
      <p:sp>
        <p:nvSpPr>
          <p:cNvPr id="215" name="Google Shape;21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0"/>
              </a:spcBef>
              <a:spcAft>
                <a:spcPts val="0"/>
              </a:spcAft>
              <a:buClr>
                <a:schemeClr val="dk1"/>
              </a:buClr>
              <a:buSzPts val="1100"/>
              <a:buFont typeface="Arial"/>
              <a:buNone/>
            </a:pPr>
            <a:br>
              <a:rPr b="1" lang="en-US">
                <a:solidFill>
                  <a:schemeClr val="dk1"/>
                </a:solidFill>
              </a:rPr>
            </a:br>
            <a:r>
              <a:rPr lang="en-US" sz="1800">
                <a:solidFill>
                  <a:schemeClr val="dk1"/>
                </a:solidFill>
              </a:rPr>
              <a:t>« Concrètement, comment se déroule un pointage ? Le processus suit 5 étapes linéaires :</a:t>
            </a:r>
            <a:endParaRPr sz="1800">
              <a:solidFill>
                <a:schemeClr val="dk1"/>
              </a:solidFill>
            </a:endParaRPr>
          </a:p>
          <a:p>
            <a:pPr indent="-342900" lvl="0" marL="838200" marR="381000" rtl="0" algn="l">
              <a:lnSpc>
                <a:spcPct val="115000"/>
              </a:lnSpc>
              <a:spcBef>
                <a:spcPts val="1200"/>
              </a:spcBef>
              <a:spcAft>
                <a:spcPts val="0"/>
              </a:spcAft>
              <a:buClr>
                <a:schemeClr val="dk1"/>
              </a:buClr>
              <a:buSzPts val="1800"/>
              <a:buAutoNum type="arabicPeriod"/>
            </a:pPr>
            <a:r>
              <a:rPr b="1" lang="en-US" sz="1800">
                <a:solidFill>
                  <a:schemeClr val="dk1"/>
                </a:solidFill>
              </a:rPr>
              <a:t>Capture :</a:t>
            </a:r>
            <a:r>
              <a:rPr lang="en-US" sz="1800">
                <a:solidFill>
                  <a:schemeClr val="dk1"/>
                </a:solidFill>
              </a:rPr>
              <a:t> Le personne passe devant la caméra qui détecte un visage humain.</a:t>
            </a:r>
            <a:endParaRPr sz="1800">
              <a:solidFill>
                <a:schemeClr val="dk1"/>
              </a:solidFill>
            </a:endParaRPr>
          </a:p>
          <a:p>
            <a:pPr indent="-342900" lvl="0" marL="838200" marR="381000" rtl="0" algn="l">
              <a:lnSpc>
                <a:spcPct val="115000"/>
              </a:lnSpc>
              <a:spcBef>
                <a:spcPts val="0"/>
              </a:spcBef>
              <a:spcAft>
                <a:spcPts val="0"/>
              </a:spcAft>
              <a:buClr>
                <a:schemeClr val="dk1"/>
              </a:buClr>
              <a:buSzPts val="1800"/>
              <a:buAutoNum type="arabicPeriod"/>
            </a:pPr>
            <a:r>
              <a:rPr b="1" lang="en-US" sz="1800">
                <a:solidFill>
                  <a:schemeClr val="dk1"/>
                </a:solidFill>
              </a:rPr>
              <a:t>Transmission :</a:t>
            </a:r>
            <a:r>
              <a:rPr lang="en-US" sz="1800">
                <a:solidFill>
                  <a:schemeClr val="dk1"/>
                </a:solidFill>
              </a:rPr>
              <a:t> La caméra communique directement avec l'API via le protocole </a:t>
            </a:r>
            <a:r>
              <a:rPr b="1" lang="en-US" sz="1800">
                <a:solidFill>
                  <a:schemeClr val="dk1"/>
                </a:solidFill>
              </a:rPr>
              <a:t>ISAPI</a:t>
            </a:r>
            <a:r>
              <a:rPr lang="en-US" sz="1800">
                <a:solidFill>
                  <a:schemeClr val="dk1"/>
                </a:solidFill>
              </a:rPr>
              <a:t> (spécifique à Hikvision).</a:t>
            </a:r>
            <a:endParaRPr sz="1800">
              <a:solidFill>
                <a:schemeClr val="dk1"/>
              </a:solidFill>
            </a:endParaRPr>
          </a:p>
          <a:p>
            <a:pPr indent="-342900" lvl="0" marL="838200" marR="381000" rtl="0" algn="l">
              <a:lnSpc>
                <a:spcPct val="115000"/>
              </a:lnSpc>
              <a:spcBef>
                <a:spcPts val="0"/>
              </a:spcBef>
              <a:spcAft>
                <a:spcPts val="0"/>
              </a:spcAft>
              <a:buClr>
                <a:schemeClr val="dk1"/>
              </a:buClr>
              <a:buSzPts val="1800"/>
              <a:buAutoNum type="arabicPeriod"/>
            </a:pPr>
            <a:r>
              <a:rPr b="1" lang="en-US" sz="1800">
                <a:solidFill>
                  <a:schemeClr val="dk1"/>
                </a:solidFill>
              </a:rPr>
              <a:t>Traitement :</a:t>
            </a:r>
            <a:r>
              <a:rPr lang="en-US" sz="1800">
                <a:solidFill>
                  <a:schemeClr val="dk1"/>
                </a:solidFill>
              </a:rPr>
              <a:t> L'algorithme compare l'empreinte faciale avec la base de données.</a:t>
            </a:r>
            <a:endParaRPr sz="1800">
              <a:solidFill>
                <a:schemeClr val="dk1"/>
              </a:solidFill>
            </a:endParaRPr>
          </a:p>
          <a:p>
            <a:pPr indent="-342900" lvl="0" marL="838200" marR="381000" rtl="0" algn="l">
              <a:lnSpc>
                <a:spcPct val="115000"/>
              </a:lnSpc>
              <a:spcBef>
                <a:spcPts val="0"/>
              </a:spcBef>
              <a:spcAft>
                <a:spcPts val="0"/>
              </a:spcAft>
              <a:buClr>
                <a:schemeClr val="dk1"/>
              </a:buClr>
              <a:buSzPts val="1800"/>
              <a:buAutoNum type="arabicPeriod"/>
            </a:pPr>
            <a:r>
              <a:rPr b="1" lang="en-US" sz="1800">
                <a:solidFill>
                  <a:schemeClr val="dk1"/>
                </a:solidFill>
              </a:rPr>
              <a:t>Stockage :</a:t>
            </a:r>
            <a:r>
              <a:rPr lang="en-US" sz="1800">
                <a:solidFill>
                  <a:schemeClr val="dk1"/>
                </a:solidFill>
              </a:rPr>
              <a:t> Si la correspondance est validée, la présence est enregistrée dans MongoDB avec l'heure exacte.</a:t>
            </a:r>
            <a:endParaRPr sz="1800">
              <a:solidFill>
                <a:schemeClr val="dk1"/>
              </a:solidFill>
            </a:endParaRPr>
          </a:p>
          <a:p>
            <a:pPr indent="-342900" lvl="0" marL="838200" marR="381000" rtl="0" algn="l">
              <a:lnSpc>
                <a:spcPct val="115000"/>
              </a:lnSpc>
              <a:spcBef>
                <a:spcPts val="0"/>
              </a:spcBef>
              <a:spcAft>
                <a:spcPts val="0"/>
              </a:spcAft>
              <a:buClr>
                <a:schemeClr val="dk1"/>
              </a:buClr>
              <a:buSzPts val="1800"/>
              <a:buAutoNum type="arabicPeriod"/>
            </a:pPr>
            <a:r>
              <a:rPr b="1" lang="en-US" sz="1800">
                <a:solidFill>
                  <a:schemeClr val="dk1"/>
                </a:solidFill>
              </a:rPr>
              <a:t>Affichage :</a:t>
            </a:r>
            <a:r>
              <a:rPr lang="en-US" sz="1800">
                <a:solidFill>
                  <a:schemeClr val="dk1"/>
                </a:solidFill>
              </a:rPr>
              <a:t> L'interface Web de l'administrateur se met à jour instantanément pour afficher l'étudiant présent. »</a:t>
            </a:r>
            <a:endParaRPr sz="1800">
              <a:solidFill>
                <a:schemeClr val="dk1"/>
              </a:solidFill>
            </a:endParaRPr>
          </a:p>
          <a:p>
            <a:pPr indent="0" lvl="0" marL="0" rtl="0" algn="l">
              <a:spcBef>
                <a:spcPts val="1200"/>
              </a:spcBef>
              <a:spcAft>
                <a:spcPts val="0"/>
              </a:spcAft>
              <a:buNone/>
            </a:pPr>
            <a:r>
              <a:t/>
            </a:r>
            <a:endParaRPr/>
          </a:p>
        </p:txBody>
      </p:sp>
      <p:sp>
        <p:nvSpPr>
          <p:cNvPr id="243" name="Google Shape;2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Nous avons soumis le système à des tests en conditions réelles. Les résultats sont très satisfaisants :</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Le </a:t>
            </a:r>
            <a:r>
              <a:rPr b="1" lang="en-US" sz="1800">
                <a:solidFill>
                  <a:schemeClr val="dk1"/>
                </a:solidFill>
              </a:rPr>
              <a:t>temps de reconnaissance</a:t>
            </a:r>
            <a:r>
              <a:rPr lang="en-US" sz="1800">
                <a:solidFill>
                  <a:schemeClr val="dk1"/>
                </a:solidFill>
              </a:rPr>
              <a:t> est inférieur à </a:t>
            </a:r>
            <a:r>
              <a:rPr b="1" lang="en-US" sz="1800">
                <a:solidFill>
                  <a:schemeClr val="dk1"/>
                </a:solidFill>
              </a:rPr>
              <a:t>1 seconde</a:t>
            </a:r>
            <a:r>
              <a:rPr lang="en-US" sz="1800">
                <a:solidFill>
                  <a:schemeClr val="dk1"/>
                </a:solidFill>
              </a:rPr>
              <a:t>. C'est crucial pour éviter les files d'attente à l'entrée des amphis.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Le </a:t>
            </a:r>
            <a:r>
              <a:rPr b="1" lang="en-US" sz="1800">
                <a:solidFill>
                  <a:schemeClr val="dk1"/>
                </a:solidFill>
              </a:rPr>
              <a:t>taux de réussite</a:t>
            </a:r>
            <a:r>
              <a:rPr lang="en-US" sz="1800">
                <a:solidFill>
                  <a:schemeClr val="dk1"/>
                </a:solidFill>
              </a:rPr>
              <a:t> dépasse les </a:t>
            </a:r>
            <a:r>
              <a:rPr b="1" lang="en-US" sz="1800">
                <a:solidFill>
                  <a:schemeClr val="dk1"/>
                </a:solidFill>
              </a:rPr>
              <a:t>95%</a:t>
            </a:r>
            <a:r>
              <a:rPr lang="en-US" sz="1800">
                <a:solidFill>
                  <a:schemeClr val="dk1"/>
                </a:solidFill>
              </a:rPr>
              <a:t>, le système étant capable de reconnaître les visages même avec de légères variations (luminosité, lunettes).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Enfin, nous assurons une </a:t>
            </a:r>
            <a:r>
              <a:rPr b="1" lang="en-US" sz="1800">
                <a:solidFill>
                  <a:schemeClr val="dk1"/>
                </a:solidFill>
              </a:rPr>
              <a:t>traçabilité complète</a:t>
            </a:r>
            <a:r>
              <a:rPr lang="en-US" sz="1800">
                <a:solidFill>
                  <a:schemeClr val="dk1"/>
                </a:solidFill>
              </a:rPr>
              <a:t> avec la possibilité d'exporter les rapports en CSV pour l'administration. »</a:t>
            </a:r>
            <a:endParaRPr sz="1800">
              <a:solidFill>
                <a:schemeClr val="dk1"/>
              </a:solidFill>
            </a:endParaRPr>
          </a:p>
          <a:p>
            <a:pPr indent="0" lvl="0" marL="457200" rtl="0" algn="l">
              <a:lnSpc>
                <a:spcPct val="115000"/>
              </a:lnSpc>
              <a:spcBef>
                <a:spcPts val="1200"/>
              </a:spcBef>
              <a:spcAft>
                <a:spcPts val="0"/>
              </a:spcAft>
              <a:buNone/>
            </a:pPr>
            <a:r>
              <a:rPr lang="en-US" sz="1800">
                <a:solidFill>
                  <a:schemeClr val="dk1"/>
                </a:solidFill>
              </a:rPr>
              <a:t>===&gt; 2: On a </a:t>
            </a:r>
            <a:r>
              <a:rPr lang="en-US" sz="1350">
                <a:solidFill>
                  <a:srgbClr val="713F12"/>
                </a:solidFill>
                <a:latin typeface="Roboto Medium"/>
                <a:ea typeface="Roboto Medium"/>
                <a:cs typeface="Roboto Medium"/>
                <a:sym typeface="Roboto Medium"/>
              </a:rPr>
              <a:t>Dépassé la limite matérielle grâce a la systheme : par la</a:t>
            </a:r>
            <a:endParaRPr sz="1350">
              <a:solidFill>
                <a:srgbClr val="713F12"/>
              </a:solidFill>
              <a:latin typeface="Roboto Medium"/>
              <a:ea typeface="Roboto Medium"/>
              <a:cs typeface="Roboto Medium"/>
              <a:sym typeface="Roboto Medium"/>
            </a:endParaRPr>
          </a:p>
          <a:p>
            <a:pPr indent="0" lvl="0" marL="0" rtl="0" algn="l">
              <a:spcBef>
                <a:spcPts val="1200"/>
              </a:spcBef>
              <a:spcAft>
                <a:spcPts val="0"/>
              </a:spcAft>
              <a:buClr>
                <a:schemeClr val="dk1"/>
              </a:buClr>
              <a:buFont typeface="Arial"/>
              <a:buNone/>
            </a:pPr>
            <a:r>
              <a:rPr b="1" lang="en-US" sz="1800">
                <a:solidFill>
                  <a:srgbClr val="854D0E"/>
                </a:solidFill>
                <a:latin typeface="Roboto"/>
                <a:ea typeface="Roboto"/>
                <a:cs typeface="Roboto"/>
                <a:sym typeface="Roboto"/>
              </a:rPr>
              <a:t>MÉCANISME :</a:t>
            </a:r>
            <a:r>
              <a:rPr lang="en-US" sz="1800">
                <a:solidFill>
                  <a:srgbClr val="334155"/>
                </a:solidFill>
                <a:latin typeface="Roboto"/>
                <a:ea typeface="Roboto"/>
                <a:cs typeface="Roboto"/>
                <a:sym typeface="Roboto"/>
              </a:rPr>
              <a:t> Automatisation du Roulement de la Base de Données </a:t>
            </a:r>
            <a:endParaRPr sz="1950">
              <a:solidFill>
                <a:srgbClr val="713F12"/>
              </a:solidFill>
              <a:latin typeface="Roboto Medium"/>
              <a:ea typeface="Roboto Medium"/>
              <a:cs typeface="Roboto Medium"/>
              <a:sym typeface="Roboto Medium"/>
            </a:endParaRPr>
          </a:p>
          <a:p>
            <a:pPr indent="0" lvl="0" marL="0" rtl="0" algn="l">
              <a:spcBef>
                <a:spcPts val="0"/>
              </a:spcBef>
              <a:spcAft>
                <a:spcPts val="0"/>
              </a:spcAft>
              <a:buClr>
                <a:schemeClr val="dk1"/>
              </a:buClr>
              <a:buFont typeface="Arial"/>
              <a:buNone/>
            </a:pPr>
            <a:r>
              <a:rPr lang="en-US" sz="1800">
                <a:solidFill>
                  <a:schemeClr val="dk1"/>
                </a:solidFill>
                <a:latin typeface="Roboto"/>
                <a:ea typeface="Roboto"/>
                <a:cs typeface="Roboto"/>
                <a:sym typeface="Roboto"/>
              </a:rPr>
              <a:t>Chargement automatique de </a:t>
            </a:r>
            <a:r>
              <a:rPr b="1" lang="en-US" sz="1800">
                <a:solidFill>
                  <a:schemeClr val="dk1"/>
                </a:solidFill>
                <a:latin typeface="Roboto"/>
                <a:ea typeface="Roboto"/>
                <a:cs typeface="Roboto"/>
                <a:sym typeface="Roboto"/>
              </a:rPr>
              <a:t>groupes de 1500</a:t>
            </a:r>
            <a:r>
              <a:rPr lang="en-US" sz="1800">
                <a:solidFill>
                  <a:schemeClr val="dk1"/>
                </a:solidFill>
                <a:latin typeface="Roboto"/>
                <a:ea typeface="Roboto"/>
                <a:cs typeface="Roboto"/>
                <a:sym typeface="Roboto"/>
              </a:rPr>
              <a:t> personnes selon le planning.</a:t>
            </a:r>
            <a:endParaRPr sz="2400">
              <a:solidFill>
                <a:schemeClr val="dk1"/>
              </a:solidFill>
            </a:endParaRPr>
          </a:p>
          <a:p>
            <a:pPr indent="0" lvl="0" marL="0" rtl="0" algn="l">
              <a:lnSpc>
                <a:spcPct val="115000"/>
              </a:lnSpc>
              <a:spcBef>
                <a:spcPts val="1200"/>
              </a:spcBef>
              <a:spcAft>
                <a:spcPts val="0"/>
              </a:spcAft>
              <a:buNone/>
            </a:pPr>
            <a:r>
              <a:rPr lang="en-US" sz="1800">
                <a:solidFill>
                  <a:schemeClr val="dk1"/>
                </a:solidFill>
              </a:rPr>
              <a:t>E</a:t>
            </a:r>
            <a:r>
              <a:rPr lang="en-US" sz="1800">
                <a:solidFill>
                  <a:schemeClr val="dk1"/>
                </a:solidFill>
                <a:latin typeface="Roboto"/>
                <a:ea typeface="Roboto"/>
                <a:cs typeface="Roboto"/>
                <a:sym typeface="Roboto"/>
              </a:rPr>
              <a:t>ffacement et rechargement des données en temps réel sans intervention humaine.</a:t>
            </a:r>
            <a:endParaRPr sz="2400">
              <a:solidFill>
                <a:schemeClr val="dk1"/>
              </a:solidFill>
            </a:endParaRPr>
          </a:p>
          <a:p>
            <a:pPr indent="0" lvl="0" marL="0" rtl="0" algn="l">
              <a:spcBef>
                <a:spcPts val="1200"/>
              </a:spcBef>
              <a:spcAft>
                <a:spcPts val="0"/>
              </a:spcAft>
              <a:buNone/>
            </a:pPr>
            <a:r>
              <a:t/>
            </a:r>
            <a:endParaRPr/>
          </a:p>
        </p:txBody>
      </p:sp>
      <p:sp>
        <p:nvSpPr>
          <p:cNvPr id="265" name="Google Shape;2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 Voici un aperçu de l'application finale, divisée en deux parties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À gauche, le </a:t>
            </a:r>
            <a:r>
              <a:rPr b="1" lang="en-US">
                <a:solidFill>
                  <a:schemeClr val="dk1"/>
                </a:solidFill>
              </a:rPr>
              <a:t>Dashboard Administrateur</a:t>
            </a:r>
            <a:r>
              <a:rPr lang="en-US">
                <a:solidFill>
                  <a:schemeClr val="dk1"/>
                </a:solidFill>
              </a:rPr>
              <a:t> : C'est la tour de contrôle. L'admin peut voir le flux vidéo en direct (via Hikvision ou d'autres caméras IP), voir les logs de passage et gérer les alertes.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À droite, l'</a:t>
            </a:r>
            <a:r>
              <a:rPr b="1" lang="en-US">
                <a:solidFill>
                  <a:schemeClr val="dk1"/>
                </a:solidFill>
              </a:rPr>
              <a:t>Interface Utilisateur</a:t>
            </a:r>
            <a:r>
              <a:rPr lang="en-US">
                <a:solidFill>
                  <a:schemeClr val="dk1"/>
                </a:solidFill>
              </a:rPr>
              <a:t> : Elle sert à la digitalisation. C'est ici que l'on enrôle les nouveaux étudiants (ajout de photos, informations) et qu'ils peuvent consulter leur propre historique de présence. L'interface a été pensée pour être intuitive et ne nécessiter aucune formation complexe. »</a:t>
            </a:r>
            <a:endParaRPr>
              <a:solidFill>
                <a:schemeClr val="dk1"/>
              </a:solidFill>
            </a:endParaRPr>
          </a:p>
          <a:p>
            <a:pPr indent="0" lvl="0" marL="0" rtl="0" algn="l">
              <a:spcBef>
                <a:spcPts val="1200"/>
              </a:spcBef>
              <a:spcAft>
                <a:spcPts val="0"/>
              </a:spcAft>
              <a:buNone/>
            </a:pPr>
            <a:r>
              <a:t/>
            </a:r>
            <a:endParaRPr/>
          </a:p>
        </p:txBody>
      </p:sp>
      <p:sp>
        <p:nvSpPr>
          <p:cNvPr id="307" name="Google Shape;3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100"/>
              <a:t>« En conclusion, ce projet de "</a:t>
            </a:r>
            <a:r>
              <a:rPr b="1" lang="en-US" sz="2100"/>
              <a:t>Système </a:t>
            </a:r>
            <a:r>
              <a:rPr b="1" lang="en-US" sz="2100"/>
              <a:t>digitalisation</a:t>
            </a:r>
            <a:r>
              <a:rPr b="1" lang="en-US" sz="2100"/>
              <a:t> et Pointage Intelligent par reconnaissance facial"</a:t>
            </a:r>
            <a:r>
              <a:rPr lang="en-US" sz="2100"/>
              <a:t> répond concrètement à la problématique initiale. Nous avons réussi à remplacer un processus manuel lent et faillible par une solution numérique rapide et sécurisée. Les tests valident la viabilité technique de l'architecture choisie. Pour la suite, les perspectives d'évolution sont prometteuses, notamment le déploiement d'une application web dédiée et la gestion centralisée de plusieurs sites (établissements éducatifs, les entreprises et les institutions publiques,). Je vous remercie de votre attention et je suis à votre disposition pour répondre à vos questions. »</a:t>
            </a:r>
            <a:endParaRPr sz="2100"/>
          </a:p>
        </p:txBody>
      </p:sp>
      <p:sp>
        <p:nvSpPr>
          <p:cNvPr id="335" name="Google Shape;3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20.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23.png"/><Relationship Id="rId13" Type="http://schemas.openxmlformats.org/officeDocument/2006/relationships/image" Target="../media/image30.png"/><Relationship Id="rId12" Type="http://schemas.openxmlformats.org/officeDocument/2006/relationships/image" Target="../media/image28.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25.png"/><Relationship Id="rId1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21.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7.png"/><Relationship Id="rId9"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19.png"/><Relationship Id="rId8" Type="http://schemas.openxmlformats.org/officeDocument/2006/relationships/image" Target="../media/image44.png"/></Relationships>
</file>

<file path=ppt/slides/_rels/slide7.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image" Target="../media/image35.png"/><Relationship Id="rId13" Type="http://schemas.openxmlformats.org/officeDocument/2006/relationships/image" Target="../media/image36.png"/><Relationship Id="rId12" Type="http://schemas.openxmlformats.org/officeDocument/2006/relationships/image" Target="../media/image51.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33.png"/><Relationship Id="rId5" Type="http://schemas.openxmlformats.org/officeDocument/2006/relationships/image" Target="../media/image50.png"/><Relationship Id="rId6" Type="http://schemas.openxmlformats.org/officeDocument/2006/relationships/image" Target="../media/image43.png"/><Relationship Id="rId7" Type="http://schemas.openxmlformats.org/officeDocument/2006/relationships/image" Target="../media/image48.png"/><Relationship Id="rId8" Type="http://schemas.openxmlformats.org/officeDocument/2006/relationships/image" Target="../media/image40.png"/></Relationships>
</file>

<file path=ppt/slides/_rels/slide8.xml.rels><?xml version="1.0" encoding="UTF-8" standalone="yes"?><Relationships xmlns="http://schemas.openxmlformats.org/package/2006/relationships"><Relationship Id="rId11" Type="http://schemas.openxmlformats.org/officeDocument/2006/relationships/image" Target="../media/image52.png"/><Relationship Id="rId10" Type="http://schemas.openxmlformats.org/officeDocument/2006/relationships/image" Target="../media/image46.png"/><Relationship Id="rId13" Type="http://schemas.openxmlformats.org/officeDocument/2006/relationships/image" Target="../media/image54.png"/><Relationship Id="rId12" Type="http://schemas.openxmlformats.org/officeDocument/2006/relationships/image" Target="../media/image62.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8.png"/><Relationship Id="rId9" Type="http://schemas.openxmlformats.org/officeDocument/2006/relationships/image" Target="../media/image47.png"/><Relationship Id="rId14" Type="http://schemas.openxmlformats.org/officeDocument/2006/relationships/image" Target="../media/image57.png"/><Relationship Id="rId5" Type="http://schemas.openxmlformats.org/officeDocument/2006/relationships/image" Target="../media/image42.png"/><Relationship Id="rId6" Type="http://schemas.openxmlformats.org/officeDocument/2006/relationships/image" Target="../media/image39.png"/><Relationship Id="rId7" Type="http://schemas.openxmlformats.org/officeDocument/2006/relationships/image" Target="../media/image41.png"/><Relationship Id="rId8" Type="http://schemas.openxmlformats.org/officeDocument/2006/relationships/image" Target="../media/image45.png"/></Relationships>
</file>

<file path=ppt/slides/_rels/slide9.xml.rels><?xml version="1.0" encoding="UTF-8" standalone="yes"?><Relationships xmlns="http://schemas.openxmlformats.org/package/2006/relationships"><Relationship Id="rId11" Type="http://schemas.openxmlformats.org/officeDocument/2006/relationships/image" Target="../media/image61.png"/><Relationship Id="rId10" Type="http://schemas.openxmlformats.org/officeDocument/2006/relationships/image" Target="../media/image58.png"/><Relationship Id="rId13" Type="http://schemas.openxmlformats.org/officeDocument/2006/relationships/image" Target="../media/image72.png"/><Relationship Id="rId12" Type="http://schemas.openxmlformats.org/officeDocument/2006/relationships/image" Target="../media/image68.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3.png"/><Relationship Id="rId9" Type="http://schemas.openxmlformats.org/officeDocument/2006/relationships/image" Target="../media/image59.png"/><Relationship Id="rId15" Type="http://schemas.openxmlformats.org/officeDocument/2006/relationships/image" Target="../media/image74.png"/><Relationship Id="rId14" Type="http://schemas.openxmlformats.org/officeDocument/2006/relationships/image" Target="../media/image63.png"/><Relationship Id="rId16" Type="http://schemas.openxmlformats.org/officeDocument/2006/relationships/image" Target="../media/image66.png"/><Relationship Id="rId5" Type="http://schemas.openxmlformats.org/officeDocument/2006/relationships/image" Target="../media/image65.png"/><Relationship Id="rId6" Type="http://schemas.openxmlformats.org/officeDocument/2006/relationships/image" Target="../media/image56.png"/><Relationship Id="rId7" Type="http://schemas.openxmlformats.org/officeDocument/2006/relationships/image" Target="../media/image49.png"/><Relationship Id="rId8" Type="http://schemas.openxmlformats.org/officeDocument/2006/relationships/image" Target="../media/image5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64.png"/><Relationship Id="rId6" Type="http://schemas.openxmlformats.org/officeDocument/2006/relationships/image" Target="../media/image73.png"/><Relationship Id="rId7" Type="http://schemas.openxmlformats.org/officeDocument/2006/relationships/image" Target="../media/image6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7.png"/><Relationship Id="rId5" Type="http://schemas.openxmlformats.org/officeDocument/2006/relationships/image" Target="../media/image70.png"/><Relationship Id="rId6"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3495675" y="5415855"/>
            <a:ext cx="5200650" cy="94669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5381625" y="3606105"/>
            <a:ext cx="1428750" cy="1428750"/>
          </a:xfrm>
          <a:prstGeom prst="rect">
            <a:avLst/>
          </a:prstGeom>
          <a:noFill/>
          <a:ln>
            <a:noFill/>
          </a:ln>
        </p:spPr>
      </p:pic>
      <p:sp>
        <p:nvSpPr>
          <p:cNvPr id="87" name="Google Shape;87;p13"/>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666750" y="552598"/>
            <a:ext cx="10858500"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94A3B8"/>
                </a:solidFill>
                <a:latin typeface="Roboto"/>
                <a:ea typeface="Roboto"/>
                <a:cs typeface="Roboto"/>
                <a:sym typeface="Roboto"/>
              </a:rPr>
              <a:t>UNIVERSITÉ DE FIANARANTSOA • ÉCOLE NATIONALE D'INFORMATIQUE</a:t>
            </a:r>
            <a:endParaRPr/>
          </a:p>
        </p:txBody>
      </p:sp>
      <p:sp>
        <p:nvSpPr>
          <p:cNvPr id="89" name="Google Shape;89;p13"/>
          <p:cNvSpPr txBox="1"/>
          <p:nvPr/>
        </p:nvSpPr>
        <p:spPr>
          <a:xfrm>
            <a:off x="395287" y="1305073"/>
            <a:ext cx="11401500" cy="2040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900" u="none" cap="none" strike="noStrike">
                <a:solidFill>
                  <a:srgbClr val="1E3A8A"/>
                </a:solidFill>
                <a:latin typeface="Montserrat"/>
                <a:ea typeface="Montserrat"/>
                <a:cs typeface="Montserrat"/>
                <a:sym typeface="Montserrat"/>
              </a:rPr>
              <a:t>SY</a:t>
            </a:r>
            <a:r>
              <a:rPr b="1" lang="en-US" sz="3900">
                <a:solidFill>
                  <a:srgbClr val="1E3A8A"/>
                </a:solidFill>
                <a:latin typeface="Times New Roman"/>
                <a:ea typeface="Times New Roman"/>
                <a:cs typeface="Times New Roman"/>
                <a:sym typeface="Times New Roman"/>
              </a:rPr>
              <a:t>STÈME DIGITALISATION ET POINTAGE DES </a:t>
            </a:r>
            <a:r>
              <a:rPr b="1" lang="en-US" sz="3900">
                <a:solidFill>
                  <a:srgbClr val="1E3A8A"/>
                </a:solidFill>
                <a:latin typeface="Times New Roman"/>
                <a:ea typeface="Times New Roman"/>
                <a:cs typeface="Times New Roman"/>
                <a:sym typeface="Times New Roman"/>
              </a:rPr>
              <a:t>PRÉSENCES</a:t>
            </a:r>
            <a:r>
              <a:rPr b="1" lang="en-US" sz="3900">
                <a:solidFill>
                  <a:srgbClr val="1E3A8A"/>
                </a:solidFill>
                <a:latin typeface="Times New Roman"/>
                <a:ea typeface="Times New Roman"/>
                <a:cs typeface="Times New Roman"/>
                <a:sym typeface="Times New Roman"/>
              </a:rPr>
              <a:t> INTELLIGENT</a:t>
            </a:r>
            <a:endParaRPr b="1" sz="3900">
              <a:solidFill>
                <a:srgbClr val="1E3A8A"/>
              </a:solidFill>
              <a:latin typeface="Times New Roman"/>
              <a:ea typeface="Times New Roman"/>
              <a:cs typeface="Times New Roman"/>
              <a:sym typeface="Times New Roman"/>
            </a:endParaRPr>
          </a:p>
          <a:p>
            <a:pPr indent="0" lvl="0" marL="0" marR="0" rtl="0" algn="ctr">
              <a:lnSpc>
                <a:spcPct val="120000"/>
              </a:lnSpc>
              <a:spcBef>
                <a:spcPts val="0"/>
              </a:spcBef>
              <a:spcAft>
                <a:spcPts val="0"/>
              </a:spcAft>
              <a:buNone/>
            </a:pPr>
            <a:r>
              <a:t/>
            </a:r>
            <a:endParaRPr b="1" sz="3900">
              <a:solidFill>
                <a:srgbClr val="1E3A8A"/>
              </a:solidFill>
              <a:latin typeface="Montserrat"/>
              <a:ea typeface="Montserrat"/>
              <a:cs typeface="Montserrat"/>
              <a:sym typeface="Montserrat"/>
            </a:endParaRPr>
          </a:p>
        </p:txBody>
      </p:sp>
      <p:sp>
        <p:nvSpPr>
          <p:cNvPr id="90" name="Google Shape;90;p13"/>
          <p:cNvSpPr txBox="1"/>
          <p:nvPr/>
        </p:nvSpPr>
        <p:spPr>
          <a:xfrm>
            <a:off x="666750" y="2684115"/>
            <a:ext cx="1085850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0EA5E9"/>
                </a:solidFill>
                <a:latin typeface="Roboto"/>
                <a:ea typeface="Roboto"/>
                <a:cs typeface="Roboto"/>
                <a:sym typeface="Roboto"/>
              </a:rPr>
              <a:t>Par Reconnaissance Faciale</a:t>
            </a:r>
            <a:endParaRPr/>
          </a:p>
        </p:txBody>
      </p:sp>
      <p:sp>
        <p:nvSpPr>
          <p:cNvPr id="91" name="Google Shape;91;p13"/>
          <p:cNvSpPr txBox="1"/>
          <p:nvPr/>
        </p:nvSpPr>
        <p:spPr>
          <a:xfrm>
            <a:off x="666750" y="6515100"/>
            <a:ext cx="2096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Rapport de Projet - Master 1</a:t>
            </a:r>
            <a:endParaRPr/>
          </a:p>
        </p:txBody>
      </p:sp>
      <p:sp>
        <p:nvSpPr>
          <p:cNvPr id="92" name="Google Shape;92;p13"/>
          <p:cNvSpPr txBox="1"/>
          <p:nvPr/>
        </p:nvSpPr>
        <p:spPr>
          <a:xfrm>
            <a:off x="10877550" y="6515100"/>
            <a:ext cx="6477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2024-2025</a:t>
            </a:r>
            <a:endParaRPr/>
          </a:p>
        </p:txBody>
      </p:sp>
      <p:sp>
        <p:nvSpPr>
          <p:cNvPr id="93" name="Google Shape;93;p13"/>
          <p:cNvSpPr txBox="1"/>
          <p:nvPr/>
        </p:nvSpPr>
        <p:spPr>
          <a:xfrm>
            <a:off x="3777139" y="5606350"/>
            <a:ext cx="48198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E3A8A"/>
                </a:solidFill>
                <a:latin typeface="Roboto SemiBold"/>
                <a:ea typeface="Roboto SemiBold"/>
                <a:cs typeface="Roboto SemiBold"/>
                <a:sym typeface="Roboto SemiBold"/>
              </a:rPr>
              <a:t>Présenté par : M. SOLOFOTIANA Herimanda Fanantenana</a:t>
            </a:r>
            <a:endParaRPr/>
          </a:p>
        </p:txBody>
      </p:sp>
      <p:sp>
        <p:nvSpPr>
          <p:cNvPr id="94" name="Google Shape;94;p13"/>
          <p:cNvSpPr txBox="1"/>
          <p:nvPr/>
        </p:nvSpPr>
        <p:spPr>
          <a:xfrm>
            <a:off x="3876675" y="5928270"/>
            <a:ext cx="44386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64748B"/>
                </a:solidFill>
                <a:latin typeface="Roboto"/>
                <a:ea typeface="Roboto"/>
                <a:cs typeface="Roboto"/>
                <a:sym typeface="Roboto"/>
              </a:rPr>
              <a:t>Mention : Intelligence Artificielle | Parcours : Objets Connectés</a:t>
            </a:r>
            <a:endParaRPr/>
          </a:p>
        </p:txBody>
      </p:sp>
      <p:pic>
        <p:nvPicPr>
          <p:cNvPr descr="image.png" id="95" name="Google Shape;95;p13"/>
          <p:cNvPicPr preferRelativeResize="0"/>
          <p:nvPr/>
        </p:nvPicPr>
        <p:blipFill rotWithShape="1">
          <a:blip r:embed="rId6">
            <a:alphaModFix/>
          </a:blip>
          <a:srcRect b="0" l="0" r="0" t="0"/>
          <a:stretch/>
        </p:blipFill>
        <p:spPr>
          <a:xfrm>
            <a:off x="5419725" y="3644205"/>
            <a:ext cx="1352550" cy="1352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666750" y="533400"/>
            <a:ext cx="11401500" cy="96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150">
                <a:solidFill>
                  <a:srgbClr val="1E3A8A"/>
                </a:solidFill>
                <a:latin typeface="Montserrat SemiBold"/>
                <a:ea typeface="Montserrat SemiBold"/>
                <a:cs typeface="Montserrat SemiBold"/>
                <a:sym typeface="Montserrat SemiBold"/>
              </a:rPr>
              <a:t>Plan de présentation </a:t>
            </a:r>
            <a:endParaRPr b="1" sz="2300">
              <a:solidFill>
                <a:schemeClr val="dk1"/>
              </a:solidFill>
            </a:endParaRPr>
          </a:p>
          <a:p>
            <a:pPr indent="0" lvl="0" marL="0" marR="0" rtl="0" algn="l">
              <a:spcBef>
                <a:spcPts val="0"/>
              </a:spcBef>
              <a:spcAft>
                <a:spcPts val="0"/>
              </a:spcAft>
              <a:buNone/>
            </a:pPr>
            <a:r>
              <a:t/>
            </a:r>
            <a:endParaRPr sz="3150">
              <a:solidFill>
                <a:srgbClr val="1E3A8A"/>
              </a:solidFill>
              <a:latin typeface="Montserrat SemiBold"/>
              <a:ea typeface="Montserrat SemiBold"/>
              <a:cs typeface="Montserrat SemiBold"/>
              <a:sym typeface="Montserrat SemiBold"/>
            </a:endParaRPr>
          </a:p>
        </p:txBody>
      </p:sp>
      <p:pic>
        <p:nvPicPr>
          <p:cNvPr descr="image.png" id="101" name="Google Shape;101;p14"/>
          <p:cNvPicPr preferRelativeResize="0"/>
          <p:nvPr/>
        </p:nvPicPr>
        <p:blipFill rotWithShape="1">
          <a:blip r:embed="rId3">
            <a:alphaModFix/>
          </a:blip>
          <a:srcRect b="0" l="0" r="0" t="0"/>
          <a:stretch/>
        </p:blipFill>
        <p:spPr>
          <a:xfrm>
            <a:off x="1201375" y="1741775"/>
            <a:ext cx="8250825" cy="4818650"/>
          </a:xfrm>
          <a:prstGeom prst="rect">
            <a:avLst/>
          </a:prstGeom>
          <a:noFill/>
          <a:ln>
            <a:noFill/>
          </a:ln>
        </p:spPr>
      </p:pic>
      <p:sp>
        <p:nvSpPr>
          <p:cNvPr id="102" name="Google Shape;102;p14"/>
          <p:cNvSpPr txBox="1"/>
          <p:nvPr/>
        </p:nvSpPr>
        <p:spPr>
          <a:xfrm>
            <a:off x="1090770" y="1984245"/>
            <a:ext cx="4750500" cy="338700"/>
          </a:xfrm>
          <a:prstGeom prst="rect">
            <a:avLst/>
          </a:prstGeom>
          <a:noFill/>
          <a:ln>
            <a:noFill/>
          </a:ln>
        </p:spPr>
        <p:txBody>
          <a:bodyPr anchorCtr="0" anchor="t" bIns="0" lIns="171450" spcFirstLastPara="1" rIns="0" wrap="square" tIns="0">
            <a:spAutoFit/>
          </a:bodyPr>
          <a:lstStyle/>
          <a:p>
            <a:pPr indent="-368300" lvl="0" marL="457200" marR="0" rtl="0" algn="l">
              <a:spcBef>
                <a:spcPts val="0"/>
              </a:spcBef>
              <a:spcAft>
                <a:spcPts val="0"/>
              </a:spcAft>
              <a:buClr>
                <a:srgbClr val="0EA5E9"/>
              </a:buClr>
              <a:buSzPts val="2200"/>
              <a:buFont typeface="Montserrat SemiBold"/>
              <a:buChar char="❏"/>
            </a:pPr>
            <a:r>
              <a:rPr lang="en-US" sz="2200">
                <a:solidFill>
                  <a:srgbClr val="0EA5E9"/>
                </a:solidFill>
                <a:latin typeface="Montserrat SemiBold"/>
                <a:ea typeface="Montserrat SemiBold"/>
                <a:cs typeface="Montserrat SemiBold"/>
                <a:sym typeface="Montserrat SemiBold"/>
              </a:rPr>
              <a:t> </a:t>
            </a:r>
            <a:r>
              <a:rPr lang="en-US" sz="2200">
                <a:solidFill>
                  <a:srgbClr val="0EA5E9"/>
                </a:solidFill>
                <a:latin typeface="Montserrat SemiBold"/>
                <a:ea typeface="Montserrat SemiBold"/>
                <a:cs typeface="Montserrat SemiBold"/>
                <a:sym typeface="Montserrat SemiBold"/>
              </a:rPr>
              <a:t>Introduction</a:t>
            </a:r>
            <a:endParaRPr sz="2200">
              <a:solidFill>
                <a:srgbClr val="0EA5E9"/>
              </a:solidFill>
            </a:endParaRPr>
          </a:p>
        </p:txBody>
      </p:sp>
      <p:sp>
        <p:nvSpPr>
          <p:cNvPr id="103" name="Google Shape;103;p14"/>
          <p:cNvSpPr txBox="1"/>
          <p:nvPr/>
        </p:nvSpPr>
        <p:spPr>
          <a:xfrm>
            <a:off x="1267705" y="2589495"/>
            <a:ext cx="9258900" cy="338700"/>
          </a:xfrm>
          <a:prstGeom prst="rect">
            <a:avLst/>
          </a:prstGeom>
          <a:noFill/>
          <a:ln>
            <a:noFill/>
          </a:ln>
        </p:spPr>
        <p:txBody>
          <a:bodyPr anchorCtr="0" anchor="t" bIns="0" lIns="0" spcFirstLastPara="1" rIns="0" wrap="square" tIns="0">
            <a:spAutoFit/>
          </a:bodyPr>
          <a:lstStyle/>
          <a:p>
            <a:pPr indent="-368300" lvl="0" marL="457200" marR="0" rtl="0" algn="l">
              <a:spcBef>
                <a:spcPts val="0"/>
              </a:spcBef>
              <a:spcAft>
                <a:spcPts val="0"/>
              </a:spcAft>
              <a:buClr>
                <a:srgbClr val="0EA5E9"/>
              </a:buClr>
              <a:buSzPts val="2200"/>
              <a:buFont typeface="Montserrat SemiBold"/>
              <a:buChar char="❏"/>
            </a:pPr>
            <a:r>
              <a:rPr i="0" lang="en-US" sz="2200" u="none" cap="none" strike="noStrike">
                <a:solidFill>
                  <a:srgbClr val="0EA5E9"/>
                </a:solidFill>
                <a:latin typeface="Montserrat SemiBold"/>
                <a:ea typeface="Montserrat SemiBold"/>
                <a:cs typeface="Montserrat SemiBold"/>
                <a:sym typeface="Montserrat SemiBold"/>
              </a:rPr>
              <a:t>Contexte et Problématique</a:t>
            </a:r>
            <a:endParaRPr sz="2200">
              <a:solidFill>
                <a:srgbClr val="0EA5E9"/>
              </a:solidFill>
            </a:endParaRPr>
          </a:p>
        </p:txBody>
      </p:sp>
      <p:sp>
        <p:nvSpPr>
          <p:cNvPr id="104" name="Google Shape;104;p14"/>
          <p:cNvSpPr txBox="1"/>
          <p:nvPr/>
        </p:nvSpPr>
        <p:spPr>
          <a:xfrm>
            <a:off x="1267705" y="3154950"/>
            <a:ext cx="7153800" cy="338700"/>
          </a:xfrm>
          <a:prstGeom prst="rect">
            <a:avLst/>
          </a:prstGeom>
          <a:noFill/>
          <a:ln>
            <a:noFill/>
          </a:ln>
        </p:spPr>
        <p:txBody>
          <a:bodyPr anchorCtr="0" anchor="t" bIns="0" lIns="0" spcFirstLastPara="1" rIns="0" wrap="square" tIns="0">
            <a:spAutoFit/>
          </a:bodyPr>
          <a:lstStyle/>
          <a:p>
            <a:pPr indent="-368300" lvl="0" marL="457200" marR="0" rtl="0" algn="l">
              <a:spcBef>
                <a:spcPts val="0"/>
              </a:spcBef>
              <a:spcAft>
                <a:spcPts val="0"/>
              </a:spcAft>
              <a:buClr>
                <a:srgbClr val="0EA5E9"/>
              </a:buClr>
              <a:buSzPts val="2200"/>
              <a:buFont typeface="Montserrat SemiBold"/>
              <a:buChar char="❏"/>
            </a:pPr>
            <a:r>
              <a:rPr i="0" lang="en-US" sz="2200" u="none" cap="none" strike="noStrike">
                <a:solidFill>
                  <a:srgbClr val="0EA5E9"/>
                </a:solidFill>
                <a:latin typeface="Montserrat SemiBold"/>
                <a:ea typeface="Montserrat SemiBold"/>
                <a:cs typeface="Montserrat SemiBold"/>
                <a:sym typeface="Montserrat SemiBold"/>
              </a:rPr>
              <a:t>Objectifs du Projet</a:t>
            </a:r>
            <a:endParaRPr sz="2200">
              <a:solidFill>
                <a:srgbClr val="0EA5E9"/>
              </a:solidFill>
            </a:endParaRPr>
          </a:p>
        </p:txBody>
      </p:sp>
      <p:sp>
        <p:nvSpPr>
          <p:cNvPr id="105" name="Google Shape;105;p14"/>
          <p:cNvSpPr txBox="1"/>
          <p:nvPr/>
        </p:nvSpPr>
        <p:spPr>
          <a:xfrm>
            <a:off x="1263660" y="3746935"/>
            <a:ext cx="7153800" cy="338700"/>
          </a:xfrm>
          <a:prstGeom prst="rect">
            <a:avLst/>
          </a:prstGeom>
          <a:noFill/>
          <a:ln>
            <a:noFill/>
          </a:ln>
        </p:spPr>
        <p:txBody>
          <a:bodyPr anchorCtr="0" anchor="t" bIns="0" lIns="0" spcFirstLastPara="1" rIns="0" wrap="square" tIns="0">
            <a:spAutoFit/>
          </a:bodyPr>
          <a:lstStyle/>
          <a:p>
            <a:pPr indent="-368300" lvl="0" marL="457200" marR="0" rtl="0" algn="l">
              <a:spcBef>
                <a:spcPts val="0"/>
              </a:spcBef>
              <a:spcAft>
                <a:spcPts val="0"/>
              </a:spcAft>
              <a:buClr>
                <a:srgbClr val="0EA5E9"/>
              </a:buClr>
              <a:buSzPts val="2200"/>
              <a:buFont typeface="Montserrat SemiBold"/>
              <a:buChar char="❏"/>
            </a:pPr>
            <a:r>
              <a:rPr i="0" lang="en-US" sz="2200" u="none" cap="none" strike="noStrike">
                <a:solidFill>
                  <a:srgbClr val="0EA5E9"/>
                </a:solidFill>
                <a:latin typeface="Montserrat SemiBold"/>
                <a:ea typeface="Montserrat SemiBold"/>
                <a:cs typeface="Montserrat SemiBold"/>
                <a:sym typeface="Montserrat SemiBold"/>
              </a:rPr>
              <a:t>Architecture Technique et technologie</a:t>
            </a:r>
            <a:endParaRPr sz="2200">
              <a:solidFill>
                <a:srgbClr val="0EA5E9"/>
              </a:solidFill>
            </a:endParaRPr>
          </a:p>
        </p:txBody>
      </p:sp>
      <p:sp>
        <p:nvSpPr>
          <p:cNvPr id="106" name="Google Shape;106;p14"/>
          <p:cNvSpPr txBox="1"/>
          <p:nvPr/>
        </p:nvSpPr>
        <p:spPr>
          <a:xfrm>
            <a:off x="1263660" y="4287410"/>
            <a:ext cx="8347800" cy="338700"/>
          </a:xfrm>
          <a:prstGeom prst="rect">
            <a:avLst/>
          </a:prstGeom>
          <a:noFill/>
          <a:ln>
            <a:noFill/>
          </a:ln>
        </p:spPr>
        <p:txBody>
          <a:bodyPr anchorCtr="0" anchor="t" bIns="0" lIns="0" spcFirstLastPara="1" rIns="0" wrap="square" tIns="0">
            <a:spAutoFit/>
          </a:bodyPr>
          <a:lstStyle/>
          <a:p>
            <a:pPr indent="-368300" lvl="0" marL="457200" marR="0" rtl="0" algn="l">
              <a:spcBef>
                <a:spcPts val="0"/>
              </a:spcBef>
              <a:spcAft>
                <a:spcPts val="0"/>
              </a:spcAft>
              <a:buClr>
                <a:srgbClr val="0EA5E9"/>
              </a:buClr>
              <a:buSzPts val="2200"/>
              <a:buFont typeface="Montserrat SemiBold"/>
              <a:buChar char="❏"/>
            </a:pPr>
            <a:r>
              <a:rPr i="0" lang="en-US" sz="2200" u="none" cap="none" strike="noStrike">
                <a:solidFill>
                  <a:srgbClr val="0EA5E9"/>
                </a:solidFill>
                <a:latin typeface="Montserrat SemiBold"/>
                <a:ea typeface="Montserrat SemiBold"/>
                <a:cs typeface="Montserrat SemiBold"/>
                <a:sym typeface="Montserrat SemiBold"/>
              </a:rPr>
              <a:t>Fonctionnement du Système</a:t>
            </a:r>
            <a:endParaRPr sz="2200">
              <a:solidFill>
                <a:srgbClr val="0EA5E9"/>
              </a:solidFill>
            </a:endParaRPr>
          </a:p>
        </p:txBody>
      </p:sp>
      <p:sp>
        <p:nvSpPr>
          <p:cNvPr id="107" name="Google Shape;107;p14"/>
          <p:cNvSpPr txBox="1"/>
          <p:nvPr/>
        </p:nvSpPr>
        <p:spPr>
          <a:xfrm>
            <a:off x="1254440" y="4857790"/>
            <a:ext cx="6530400" cy="338700"/>
          </a:xfrm>
          <a:prstGeom prst="rect">
            <a:avLst/>
          </a:prstGeom>
          <a:noFill/>
          <a:ln>
            <a:noFill/>
          </a:ln>
        </p:spPr>
        <p:txBody>
          <a:bodyPr anchorCtr="0" anchor="t" bIns="0" lIns="0" spcFirstLastPara="1" rIns="0" wrap="square" tIns="0">
            <a:spAutoFit/>
          </a:bodyPr>
          <a:lstStyle/>
          <a:p>
            <a:pPr indent="-368300" lvl="0" marL="457200" marR="0" rtl="0" algn="l">
              <a:spcBef>
                <a:spcPts val="0"/>
              </a:spcBef>
              <a:spcAft>
                <a:spcPts val="0"/>
              </a:spcAft>
              <a:buClr>
                <a:srgbClr val="0EA5E9"/>
              </a:buClr>
              <a:buSzPts val="2200"/>
              <a:buFont typeface="Montserrat SemiBold"/>
              <a:buChar char="❏"/>
            </a:pPr>
            <a:r>
              <a:rPr i="0" lang="en-US" sz="2200" u="none" cap="none" strike="noStrike">
                <a:solidFill>
                  <a:srgbClr val="0EA5E9"/>
                </a:solidFill>
                <a:latin typeface="Montserrat SemiBold"/>
                <a:ea typeface="Montserrat SemiBold"/>
                <a:cs typeface="Montserrat SemiBold"/>
                <a:sym typeface="Montserrat SemiBold"/>
              </a:rPr>
              <a:t>Résultats des Tests</a:t>
            </a:r>
            <a:endParaRPr sz="2200">
              <a:solidFill>
                <a:srgbClr val="0EA5E9"/>
              </a:solidFill>
            </a:endParaRPr>
          </a:p>
        </p:txBody>
      </p:sp>
      <p:sp>
        <p:nvSpPr>
          <p:cNvPr id="108" name="Google Shape;108;p14"/>
          <p:cNvSpPr txBox="1"/>
          <p:nvPr/>
        </p:nvSpPr>
        <p:spPr>
          <a:xfrm>
            <a:off x="1263600" y="5421405"/>
            <a:ext cx="5820900" cy="338700"/>
          </a:xfrm>
          <a:prstGeom prst="rect">
            <a:avLst/>
          </a:prstGeom>
          <a:noFill/>
          <a:ln>
            <a:noFill/>
          </a:ln>
        </p:spPr>
        <p:txBody>
          <a:bodyPr anchorCtr="0" anchor="t" bIns="0" lIns="0" spcFirstLastPara="1" rIns="0" wrap="square" tIns="0">
            <a:spAutoFit/>
          </a:bodyPr>
          <a:lstStyle/>
          <a:p>
            <a:pPr indent="-368300" lvl="0" marL="457200" marR="0" rtl="0" algn="l">
              <a:spcBef>
                <a:spcPts val="0"/>
              </a:spcBef>
              <a:spcAft>
                <a:spcPts val="0"/>
              </a:spcAft>
              <a:buClr>
                <a:srgbClr val="0EA5E9"/>
              </a:buClr>
              <a:buSzPts val="2200"/>
              <a:buFont typeface="Montserrat SemiBold"/>
              <a:buChar char="❏"/>
            </a:pPr>
            <a:r>
              <a:rPr lang="en-US" sz="2200">
                <a:solidFill>
                  <a:srgbClr val="0EA5E9"/>
                </a:solidFill>
                <a:latin typeface="Montserrat SemiBold"/>
                <a:ea typeface="Montserrat SemiBold"/>
                <a:cs typeface="Montserrat SemiBold"/>
                <a:sym typeface="Montserrat SemiBold"/>
              </a:rPr>
              <a:t>Démonstration</a:t>
            </a:r>
            <a:endParaRPr sz="2200">
              <a:solidFill>
                <a:srgbClr val="0EA5E9"/>
              </a:solidFill>
            </a:endParaRPr>
          </a:p>
        </p:txBody>
      </p:sp>
      <p:sp>
        <p:nvSpPr>
          <p:cNvPr id="109" name="Google Shape;109;p14"/>
          <p:cNvSpPr txBox="1"/>
          <p:nvPr/>
        </p:nvSpPr>
        <p:spPr>
          <a:xfrm>
            <a:off x="1253941" y="5932735"/>
            <a:ext cx="6695700" cy="338700"/>
          </a:xfrm>
          <a:prstGeom prst="rect">
            <a:avLst/>
          </a:prstGeom>
          <a:noFill/>
          <a:ln>
            <a:noFill/>
          </a:ln>
        </p:spPr>
        <p:txBody>
          <a:bodyPr anchorCtr="0" anchor="t" bIns="0" lIns="0" spcFirstLastPara="1" rIns="0" wrap="square" tIns="0">
            <a:spAutoFit/>
          </a:bodyPr>
          <a:lstStyle/>
          <a:p>
            <a:pPr indent="-368300" lvl="0" marL="457200" marR="0" rtl="0" algn="l">
              <a:spcBef>
                <a:spcPts val="0"/>
              </a:spcBef>
              <a:spcAft>
                <a:spcPts val="0"/>
              </a:spcAft>
              <a:buClr>
                <a:srgbClr val="0EA5E9"/>
              </a:buClr>
              <a:buSzPts val="2200"/>
              <a:buFont typeface="Montserrat"/>
              <a:buChar char="❏"/>
            </a:pPr>
            <a:r>
              <a:rPr b="1" i="0" lang="en-US" sz="2200" u="none" cap="none" strike="noStrike">
                <a:solidFill>
                  <a:srgbClr val="0EA5E9"/>
                </a:solidFill>
                <a:latin typeface="Montserrat"/>
                <a:ea typeface="Montserrat"/>
                <a:cs typeface="Montserrat"/>
                <a:sym typeface="Montserrat"/>
              </a:rPr>
              <a:t>Conclusion</a:t>
            </a:r>
            <a:endParaRPr b="1" sz="2200">
              <a:solidFill>
                <a:srgbClr val="0EA5E9"/>
              </a:solidFill>
            </a:endParaRPr>
          </a:p>
        </p:txBody>
      </p:sp>
      <p:pic>
        <p:nvPicPr>
          <p:cNvPr descr="image.png" id="110" name="Google Shape;110;p14"/>
          <p:cNvPicPr preferRelativeResize="0"/>
          <p:nvPr/>
        </p:nvPicPr>
        <p:blipFill rotWithShape="1">
          <a:blip r:embed="rId4">
            <a:alphaModFix/>
          </a:blip>
          <a:srcRect b="0" l="0" r="0" t="0"/>
          <a:stretch/>
        </p:blipFill>
        <p:spPr>
          <a:xfrm>
            <a:off x="666750" y="6555400"/>
            <a:ext cx="10858500" cy="304800"/>
          </a:xfrm>
          <a:prstGeom prst="rect">
            <a:avLst/>
          </a:prstGeom>
          <a:noFill/>
          <a:ln>
            <a:noFill/>
          </a:ln>
        </p:spPr>
      </p:pic>
      <p:sp>
        <p:nvSpPr>
          <p:cNvPr id="111" name="Google Shape;111;p14"/>
          <p:cNvSpPr txBox="1"/>
          <p:nvPr/>
        </p:nvSpPr>
        <p:spPr>
          <a:xfrm>
            <a:off x="666750" y="6652683"/>
            <a:ext cx="733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50">
                <a:solidFill>
                  <a:srgbClr val="94A3B8"/>
                </a:solidFill>
                <a:latin typeface="Roboto"/>
                <a:ea typeface="Roboto"/>
                <a:cs typeface="Roboto"/>
                <a:sym typeface="Roboto"/>
              </a:rPr>
              <a:t>Plan</a:t>
            </a:r>
            <a:endParaRPr/>
          </a:p>
        </p:txBody>
      </p:sp>
      <p:sp>
        <p:nvSpPr>
          <p:cNvPr id="112" name="Google Shape;112;p14"/>
          <p:cNvSpPr txBox="1"/>
          <p:nvPr/>
        </p:nvSpPr>
        <p:spPr>
          <a:xfrm>
            <a:off x="10896250" y="6578600"/>
            <a:ext cx="6288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image.png" id="117" name="Google Shape;117;p15"/>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118" name="Google Shape;118;p15"/>
          <p:cNvPicPr preferRelativeResize="0"/>
          <p:nvPr/>
        </p:nvPicPr>
        <p:blipFill rotWithShape="1">
          <a:blip r:embed="rId4">
            <a:alphaModFix/>
          </a:blip>
          <a:srcRect b="0" l="0" r="0" t="0"/>
          <a:stretch/>
        </p:blipFill>
        <p:spPr>
          <a:xfrm>
            <a:off x="6381750" y="2157412"/>
            <a:ext cx="5143500" cy="3619500"/>
          </a:xfrm>
          <a:prstGeom prst="rect">
            <a:avLst/>
          </a:prstGeom>
          <a:noFill/>
          <a:ln>
            <a:noFill/>
          </a:ln>
        </p:spPr>
      </p:pic>
      <p:pic>
        <p:nvPicPr>
          <p:cNvPr descr="image.png" id="119" name="Google Shape;119;p15"/>
          <p:cNvPicPr preferRelativeResize="0"/>
          <p:nvPr/>
        </p:nvPicPr>
        <p:blipFill rotWithShape="1">
          <a:blip r:embed="rId5">
            <a:alphaModFix/>
          </a:blip>
          <a:srcRect b="0" l="0" r="0" t="0"/>
          <a:stretch/>
        </p:blipFill>
        <p:spPr>
          <a:xfrm>
            <a:off x="666750" y="2475607"/>
            <a:ext cx="5143500" cy="1413420"/>
          </a:xfrm>
          <a:prstGeom prst="rect">
            <a:avLst/>
          </a:prstGeom>
          <a:noFill/>
          <a:ln>
            <a:noFill/>
          </a:ln>
        </p:spPr>
      </p:pic>
      <p:sp>
        <p:nvSpPr>
          <p:cNvPr id="120" name="Google Shape;120;p15"/>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txBox="1"/>
          <p:nvPr/>
        </p:nvSpPr>
        <p:spPr>
          <a:xfrm>
            <a:off x="666750" y="533400"/>
            <a:ext cx="11401425"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1E3A8A"/>
                </a:solidFill>
                <a:latin typeface="Montserrat SemiBold"/>
                <a:ea typeface="Montserrat SemiBold"/>
                <a:cs typeface="Montserrat SemiBold"/>
                <a:sym typeface="Montserrat SemiBold"/>
              </a:rPr>
              <a:t>Introduction</a:t>
            </a:r>
            <a:endParaRPr/>
          </a:p>
        </p:txBody>
      </p:sp>
      <p:sp>
        <p:nvSpPr>
          <p:cNvPr id="122" name="Google Shape;122;p15"/>
          <p:cNvSpPr/>
          <p:nvPr/>
        </p:nvSpPr>
        <p:spPr>
          <a:xfrm>
            <a:off x="5715000" y="833437"/>
            <a:ext cx="7620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txBox="1"/>
          <p:nvPr/>
        </p:nvSpPr>
        <p:spPr>
          <a:xfrm>
            <a:off x="666750" y="6515100"/>
            <a:ext cx="7334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Introduction</a:t>
            </a:r>
            <a:endParaRPr/>
          </a:p>
        </p:txBody>
      </p:sp>
      <p:sp>
        <p:nvSpPr>
          <p:cNvPr id="124" name="Google Shape;124;p15"/>
          <p:cNvSpPr txBox="1"/>
          <p:nvPr/>
        </p:nvSpPr>
        <p:spPr>
          <a:xfrm>
            <a:off x="11115675" y="6515100"/>
            <a:ext cx="881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a:t>
            </a:r>
            <a:r>
              <a:rPr lang="en-US" sz="1050">
                <a:solidFill>
                  <a:srgbClr val="94A3B8"/>
                </a:solidFill>
                <a:latin typeface="Roboto"/>
                <a:ea typeface="Roboto"/>
                <a:cs typeface="Roboto"/>
                <a:sym typeface="Roboto"/>
              </a:rPr>
              <a:t>2</a:t>
            </a:r>
            <a:endParaRPr/>
          </a:p>
        </p:txBody>
      </p:sp>
      <p:sp>
        <p:nvSpPr>
          <p:cNvPr id="125" name="Google Shape;125;p15"/>
          <p:cNvSpPr txBox="1"/>
          <p:nvPr/>
        </p:nvSpPr>
        <p:spPr>
          <a:xfrm>
            <a:off x="666750" y="1980307"/>
            <a:ext cx="5143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3A8A"/>
                </a:solidFill>
                <a:latin typeface="Roboto Medium"/>
                <a:ea typeface="Roboto Medium"/>
                <a:cs typeface="Roboto Medium"/>
                <a:sym typeface="Roboto Medium"/>
              </a:rPr>
              <a:t>Une modernisation nécessaire des processus de gestion.</a:t>
            </a:r>
            <a:endParaRPr/>
          </a:p>
        </p:txBody>
      </p:sp>
      <p:sp>
        <p:nvSpPr>
          <p:cNvPr id="126" name="Google Shape;126;p15"/>
          <p:cNvSpPr txBox="1"/>
          <p:nvPr/>
        </p:nvSpPr>
        <p:spPr>
          <a:xfrm>
            <a:off x="666750" y="4079527"/>
            <a:ext cx="51435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Ce projet s'inscrit dans une dynamique d'innovation en proposant une transition des méthodes traditionnelles vers une solution numérique avancée.</a:t>
            </a:r>
            <a:endParaRPr/>
          </a:p>
        </p:txBody>
      </p:sp>
      <p:sp>
        <p:nvSpPr>
          <p:cNvPr id="127" name="Google Shape;127;p15"/>
          <p:cNvSpPr txBox="1"/>
          <p:nvPr/>
        </p:nvSpPr>
        <p:spPr>
          <a:xfrm>
            <a:off x="666750" y="5016698"/>
            <a:ext cx="51435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En exploitant l'</a:t>
            </a:r>
            <a:r>
              <a:rPr b="1" i="0" lang="en-US" sz="1350" u="none" cap="none" strike="noStrike">
                <a:solidFill>
                  <a:srgbClr val="475569"/>
                </a:solidFill>
                <a:latin typeface="Roboto"/>
                <a:ea typeface="Roboto"/>
                <a:cs typeface="Roboto"/>
                <a:sym typeface="Roboto"/>
              </a:rPr>
              <a:t>Intelligence Artificielle</a:t>
            </a:r>
            <a:r>
              <a:rPr b="0" i="0" lang="en-US" sz="1350" u="none" cap="none" strike="noStrike">
                <a:solidFill>
                  <a:srgbClr val="475569"/>
                </a:solidFill>
                <a:latin typeface="Roboto"/>
                <a:ea typeface="Roboto"/>
                <a:cs typeface="Roboto"/>
                <a:sym typeface="Roboto"/>
              </a:rPr>
              <a:t> et l'</a:t>
            </a:r>
            <a:r>
              <a:rPr b="1" i="0" lang="en-US" sz="1350" u="none" cap="none" strike="noStrike">
                <a:solidFill>
                  <a:srgbClr val="475569"/>
                </a:solidFill>
                <a:latin typeface="Roboto"/>
                <a:ea typeface="Roboto"/>
                <a:cs typeface="Roboto"/>
                <a:sym typeface="Roboto"/>
              </a:rPr>
              <a:t>Internet des Objets (IoT)</a:t>
            </a:r>
            <a:r>
              <a:rPr b="0" i="0" lang="en-US" sz="1350" u="none" cap="none" strike="noStrike">
                <a:solidFill>
                  <a:srgbClr val="475569"/>
                </a:solidFill>
                <a:latin typeface="Roboto"/>
                <a:ea typeface="Roboto"/>
                <a:cs typeface="Roboto"/>
                <a:sym typeface="Roboto"/>
              </a:rPr>
              <a:t>, nous visons à concevoir un système capable de relever les défis de fiabilité et de rapidité.</a:t>
            </a:r>
            <a:endParaRPr/>
          </a:p>
        </p:txBody>
      </p:sp>
      <p:pic>
        <p:nvPicPr>
          <p:cNvPr id="128" name="Google Shape;128;p15"/>
          <p:cNvPicPr preferRelativeResize="0"/>
          <p:nvPr/>
        </p:nvPicPr>
        <p:blipFill rotWithShape="1">
          <a:blip r:embed="rId6">
            <a:alphaModFix/>
          </a:blip>
          <a:srcRect b="0" l="22242" r="22248" t="0"/>
          <a:stretch/>
        </p:blipFill>
        <p:spPr>
          <a:xfrm>
            <a:off x="6381750" y="2157412"/>
            <a:ext cx="5143501" cy="3619500"/>
          </a:xfrm>
          <a:prstGeom prst="rect">
            <a:avLst/>
          </a:prstGeom>
          <a:noFill/>
          <a:ln>
            <a:noFill/>
          </a:ln>
        </p:spPr>
      </p:pic>
      <p:sp>
        <p:nvSpPr>
          <p:cNvPr id="129" name="Google Shape;129;p15"/>
          <p:cNvSpPr txBox="1"/>
          <p:nvPr/>
        </p:nvSpPr>
        <p:spPr>
          <a:xfrm>
            <a:off x="942975" y="2713732"/>
            <a:ext cx="46291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La gestion des présences est un enjeu crucial pour la sécurité, la discipline et l'optimisation des ressources au sein des établissements universitaires.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image.png" id="134" name="Google Shape;134;p16"/>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135" name="Google Shape;135;p16"/>
          <p:cNvPicPr preferRelativeResize="0"/>
          <p:nvPr/>
        </p:nvPicPr>
        <p:blipFill rotWithShape="1">
          <a:blip r:embed="rId4">
            <a:alphaModFix/>
          </a:blip>
          <a:srcRect b="0" l="0" r="0" t="0"/>
          <a:stretch/>
        </p:blipFill>
        <p:spPr>
          <a:xfrm>
            <a:off x="666750" y="1552575"/>
            <a:ext cx="5143500" cy="4829175"/>
          </a:xfrm>
          <a:prstGeom prst="rect">
            <a:avLst/>
          </a:prstGeom>
          <a:noFill/>
          <a:ln>
            <a:noFill/>
          </a:ln>
        </p:spPr>
      </p:pic>
      <p:pic>
        <p:nvPicPr>
          <p:cNvPr descr="image.png" id="136" name="Google Shape;136;p16"/>
          <p:cNvPicPr preferRelativeResize="0"/>
          <p:nvPr/>
        </p:nvPicPr>
        <p:blipFill rotWithShape="1">
          <a:blip r:embed="rId5">
            <a:alphaModFix/>
          </a:blip>
          <a:srcRect b="0" l="0" r="0" t="0"/>
          <a:stretch/>
        </p:blipFill>
        <p:spPr>
          <a:xfrm>
            <a:off x="6381750" y="1552575"/>
            <a:ext cx="5143500" cy="4829175"/>
          </a:xfrm>
          <a:prstGeom prst="rect">
            <a:avLst/>
          </a:prstGeom>
          <a:noFill/>
          <a:ln>
            <a:noFill/>
          </a:ln>
        </p:spPr>
      </p:pic>
      <p:sp>
        <p:nvSpPr>
          <p:cNvPr id="137" name="Google Shape;137;p16"/>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6"/>
          <p:cNvSpPr txBox="1"/>
          <p:nvPr/>
        </p:nvSpPr>
        <p:spPr>
          <a:xfrm>
            <a:off x="666750" y="533400"/>
            <a:ext cx="11401425"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1E3A8A"/>
                </a:solidFill>
                <a:latin typeface="Montserrat SemiBold"/>
                <a:ea typeface="Montserrat SemiBold"/>
                <a:cs typeface="Montserrat SemiBold"/>
                <a:sym typeface="Montserrat SemiBold"/>
              </a:rPr>
              <a:t>Contexte et Problématique</a:t>
            </a:r>
            <a:endParaRPr/>
          </a:p>
        </p:txBody>
      </p:sp>
      <p:sp>
        <p:nvSpPr>
          <p:cNvPr id="139" name="Google Shape;139;p16"/>
          <p:cNvSpPr/>
          <p:nvPr/>
        </p:nvSpPr>
        <p:spPr>
          <a:xfrm>
            <a:off x="5715000" y="833437"/>
            <a:ext cx="7620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6"/>
          <p:cNvSpPr txBox="1"/>
          <p:nvPr/>
        </p:nvSpPr>
        <p:spPr>
          <a:xfrm>
            <a:off x="666750" y="6515100"/>
            <a:ext cx="5334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Contexte</a:t>
            </a:r>
            <a:endParaRPr/>
          </a:p>
        </p:txBody>
      </p:sp>
      <p:sp>
        <p:nvSpPr>
          <p:cNvPr id="141" name="Google Shape;141;p16"/>
          <p:cNvSpPr txBox="1"/>
          <p:nvPr/>
        </p:nvSpPr>
        <p:spPr>
          <a:xfrm>
            <a:off x="11115675" y="6515100"/>
            <a:ext cx="762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a:t>
            </a:r>
            <a:r>
              <a:rPr lang="en-US" sz="1050">
                <a:solidFill>
                  <a:srgbClr val="94A3B8"/>
                </a:solidFill>
                <a:latin typeface="Roboto"/>
                <a:ea typeface="Roboto"/>
                <a:cs typeface="Roboto"/>
                <a:sym typeface="Roboto"/>
              </a:rPr>
              <a:t>3</a:t>
            </a:r>
            <a:endParaRPr/>
          </a:p>
        </p:txBody>
      </p:sp>
      <p:sp>
        <p:nvSpPr>
          <p:cNvPr id="142" name="Google Shape;142;p16"/>
          <p:cNvSpPr txBox="1"/>
          <p:nvPr/>
        </p:nvSpPr>
        <p:spPr>
          <a:xfrm>
            <a:off x="1000125" y="1838325"/>
            <a:ext cx="4750500" cy="277200"/>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lang="en-US" sz="1800">
                <a:solidFill>
                  <a:srgbClr val="BE123C"/>
                </a:solidFill>
                <a:latin typeface="Montserrat SemiBold"/>
                <a:ea typeface="Montserrat SemiBold"/>
                <a:cs typeface="Montserrat SemiBold"/>
                <a:sym typeface="Montserrat SemiBold"/>
              </a:rPr>
              <a:t> </a:t>
            </a:r>
            <a:r>
              <a:rPr b="0" i="0" lang="en-US" sz="1800" u="none" cap="none" strike="noStrike">
                <a:solidFill>
                  <a:srgbClr val="BE123C"/>
                </a:solidFill>
                <a:latin typeface="Montserrat SemiBold"/>
                <a:ea typeface="Montserrat SemiBold"/>
                <a:cs typeface="Montserrat SemiBold"/>
                <a:sym typeface="Montserrat SemiBold"/>
              </a:rPr>
              <a:t>Système Actuel</a:t>
            </a:r>
            <a:endParaRPr/>
          </a:p>
        </p:txBody>
      </p:sp>
      <p:sp>
        <p:nvSpPr>
          <p:cNvPr id="143" name="Google Shape;143;p16"/>
          <p:cNvSpPr txBox="1"/>
          <p:nvPr/>
        </p:nvSpPr>
        <p:spPr>
          <a:xfrm>
            <a:off x="6715125" y="1838325"/>
            <a:ext cx="4750500" cy="277200"/>
          </a:xfrm>
          <a:prstGeom prst="rect">
            <a:avLst/>
          </a:prstGeom>
          <a:noFill/>
          <a:ln>
            <a:noFill/>
          </a:ln>
        </p:spPr>
        <p:txBody>
          <a:bodyPr anchorCtr="0" anchor="t" bIns="0" lIns="171450" spcFirstLastPara="1" rIns="0" wrap="square" tIns="0">
            <a:spAutoFit/>
          </a:bodyPr>
          <a:lstStyle/>
          <a:p>
            <a:pPr indent="0" lvl="0" marL="0" marR="0" rtl="0" algn="l">
              <a:spcBef>
                <a:spcPts val="0"/>
              </a:spcBef>
              <a:spcAft>
                <a:spcPts val="0"/>
              </a:spcAft>
              <a:buNone/>
            </a:pPr>
            <a:r>
              <a:rPr lang="en-US" sz="1800">
                <a:solidFill>
                  <a:srgbClr val="0369A1"/>
                </a:solidFill>
                <a:latin typeface="Montserrat SemiBold"/>
                <a:ea typeface="Montserrat SemiBold"/>
                <a:cs typeface="Montserrat SemiBold"/>
                <a:sym typeface="Montserrat SemiBold"/>
              </a:rPr>
              <a:t> </a:t>
            </a:r>
            <a:r>
              <a:rPr b="0" i="0" lang="en-US" sz="1800" u="none" cap="none" strike="noStrike">
                <a:solidFill>
                  <a:srgbClr val="0369A1"/>
                </a:solidFill>
                <a:latin typeface="Montserrat SemiBold"/>
                <a:ea typeface="Montserrat SemiBold"/>
                <a:cs typeface="Montserrat SemiBold"/>
                <a:sym typeface="Montserrat SemiBold"/>
              </a:rPr>
              <a:t>Solution Visée</a:t>
            </a:r>
            <a:endParaRPr/>
          </a:p>
        </p:txBody>
      </p:sp>
      <p:sp>
        <p:nvSpPr>
          <p:cNvPr id="144" name="Google Shape;144;p16"/>
          <p:cNvSpPr txBox="1"/>
          <p:nvPr/>
        </p:nvSpPr>
        <p:spPr>
          <a:xfrm>
            <a:off x="6715125" y="2305050"/>
            <a:ext cx="45243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Medium"/>
                <a:ea typeface="Roboto Medium"/>
                <a:cs typeface="Roboto Medium"/>
                <a:sym typeface="Roboto Medium"/>
              </a:rPr>
              <a:t>Un système automatique, sécurisé, rapide et traçable.</a:t>
            </a:r>
            <a:endParaRPr/>
          </a:p>
        </p:txBody>
      </p:sp>
      <p:sp>
        <p:nvSpPr>
          <p:cNvPr id="145" name="Google Shape;145;p16"/>
          <p:cNvSpPr txBox="1"/>
          <p:nvPr/>
        </p:nvSpPr>
        <p:spPr>
          <a:xfrm>
            <a:off x="6715125" y="2693640"/>
            <a:ext cx="452437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475569"/>
                </a:solidFill>
                <a:latin typeface="Roboto"/>
                <a:ea typeface="Roboto"/>
                <a:cs typeface="Roboto"/>
                <a:sym typeface="Roboto"/>
              </a:rPr>
              <a:t>Objectif Central :</a:t>
            </a:r>
            <a:r>
              <a:rPr b="0" i="0" lang="en-US" sz="1350" u="none" cap="none" strike="noStrike">
                <a:solidFill>
                  <a:srgbClr val="475569"/>
                </a:solidFill>
                <a:latin typeface="Roboto"/>
                <a:ea typeface="Roboto"/>
                <a:cs typeface="Roboto"/>
                <a:sym typeface="Roboto"/>
              </a:rPr>
              <a:t> Utiliser l'IA (Reconnaissance Faciale) et l'IoT pour digitaliser intégralement le flux de gestion des présences.</a:t>
            </a:r>
            <a:endParaRPr/>
          </a:p>
        </p:txBody>
      </p:sp>
      <p:pic>
        <p:nvPicPr>
          <p:cNvPr descr="image.png" id="146" name="Google Shape;146;p16"/>
          <p:cNvPicPr preferRelativeResize="0"/>
          <p:nvPr/>
        </p:nvPicPr>
        <p:blipFill rotWithShape="1">
          <a:blip r:embed="rId6">
            <a:alphaModFix/>
          </a:blip>
          <a:srcRect b="0" l="0" r="0" t="0"/>
          <a:stretch/>
        </p:blipFill>
        <p:spPr>
          <a:xfrm>
            <a:off x="1000125" y="1857375"/>
            <a:ext cx="228600" cy="228600"/>
          </a:xfrm>
          <a:prstGeom prst="rect">
            <a:avLst/>
          </a:prstGeom>
          <a:noFill/>
          <a:ln>
            <a:noFill/>
          </a:ln>
        </p:spPr>
      </p:pic>
      <p:sp>
        <p:nvSpPr>
          <p:cNvPr id="147" name="Google Shape;147;p16"/>
          <p:cNvSpPr txBox="1"/>
          <p:nvPr/>
        </p:nvSpPr>
        <p:spPr>
          <a:xfrm>
            <a:off x="1000125" y="2305050"/>
            <a:ext cx="4524375" cy="548580"/>
          </a:xfrm>
          <a:prstGeom prst="rect">
            <a:avLst/>
          </a:prstGeom>
          <a:noFill/>
          <a:ln>
            <a:noFill/>
          </a:ln>
        </p:spPr>
        <p:txBody>
          <a:bodyPr anchorCtr="0" anchor="t" bIns="0" lIns="219075"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475569"/>
                </a:solidFill>
                <a:latin typeface="Roboto"/>
                <a:ea typeface="Roboto"/>
                <a:cs typeface="Roboto"/>
                <a:sym typeface="Roboto"/>
              </a:rPr>
              <a:t>Lenteur :</a:t>
            </a:r>
            <a:r>
              <a:rPr b="0" i="0" lang="en-US" sz="1350" u="none" cap="none" strike="noStrike">
                <a:solidFill>
                  <a:srgbClr val="475569"/>
                </a:solidFill>
                <a:latin typeface="Roboto"/>
                <a:ea typeface="Roboto"/>
                <a:cs typeface="Roboto"/>
                <a:sym typeface="Roboto"/>
              </a:rPr>
              <a:t> Le pointage papier consomme un temps précieux en début de cours.</a:t>
            </a:r>
            <a:endParaRPr/>
          </a:p>
        </p:txBody>
      </p:sp>
      <p:sp>
        <p:nvSpPr>
          <p:cNvPr id="148" name="Google Shape;148;p16"/>
          <p:cNvSpPr txBox="1"/>
          <p:nvPr/>
        </p:nvSpPr>
        <p:spPr>
          <a:xfrm>
            <a:off x="1000125" y="2996505"/>
            <a:ext cx="4524375" cy="548580"/>
          </a:xfrm>
          <a:prstGeom prst="rect">
            <a:avLst/>
          </a:prstGeom>
          <a:noFill/>
          <a:ln>
            <a:noFill/>
          </a:ln>
        </p:spPr>
        <p:txBody>
          <a:bodyPr anchorCtr="0" anchor="t" bIns="0" lIns="219075"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475569"/>
                </a:solidFill>
                <a:latin typeface="Roboto"/>
                <a:ea typeface="Roboto"/>
                <a:cs typeface="Roboto"/>
                <a:sym typeface="Roboto"/>
              </a:rPr>
              <a:t>Peu Fiable :</a:t>
            </a:r>
            <a:r>
              <a:rPr b="0" i="0" lang="en-US" sz="1350" u="none" cap="none" strike="noStrike">
                <a:solidFill>
                  <a:srgbClr val="475569"/>
                </a:solidFill>
                <a:latin typeface="Roboto"/>
                <a:ea typeface="Roboto"/>
                <a:cs typeface="Roboto"/>
                <a:sym typeface="Roboto"/>
              </a:rPr>
              <a:t> Sujet aux erreurs de saisie et pertes de feuilles.</a:t>
            </a:r>
            <a:endParaRPr/>
          </a:p>
        </p:txBody>
      </p:sp>
      <p:sp>
        <p:nvSpPr>
          <p:cNvPr id="149" name="Google Shape;149;p16"/>
          <p:cNvSpPr txBox="1"/>
          <p:nvPr/>
        </p:nvSpPr>
        <p:spPr>
          <a:xfrm>
            <a:off x="1000125" y="3687960"/>
            <a:ext cx="4524300" cy="540300"/>
          </a:xfrm>
          <a:prstGeom prst="rect">
            <a:avLst/>
          </a:prstGeom>
          <a:noFill/>
          <a:ln>
            <a:noFill/>
          </a:ln>
        </p:spPr>
        <p:txBody>
          <a:bodyPr anchorCtr="0" anchor="t" bIns="0" lIns="219075"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475569"/>
                </a:solidFill>
                <a:latin typeface="Roboto"/>
                <a:ea typeface="Roboto"/>
                <a:cs typeface="Roboto"/>
                <a:sym typeface="Roboto"/>
              </a:rPr>
              <a:t>Fraudes :</a:t>
            </a:r>
            <a:r>
              <a:rPr b="0" i="0" lang="en-US" sz="1350" u="none" cap="none" strike="noStrike">
                <a:solidFill>
                  <a:srgbClr val="475569"/>
                </a:solidFill>
                <a:latin typeface="Roboto"/>
                <a:ea typeface="Roboto"/>
                <a:cs typeface="Roboto"/>
                <a:sym typeface="Roboto"/>
              </a:rPr>
              <a:t> Signature par procuration fréquente(example: entre étudiants).</a:t>
            </a:r>
            <a:endParaRPr/>
          </a:p>
        </p:txBody>
      </p:sp>
      <p:pic>
        <p:nvPicPr>
          <p:cNvPr descr="image.png" id="150" name="Google Shape;150;p16"/>
          <p:cNvPicPr preferRelativeResize="0"/>
          <p:nvPr/>
        </p:nvPicPr>
        <p:blipFill rotWithShape="1">
          <a:blip r:embed="rId7">
            <a:alphaModFix/>
          </a:blip>
          <a:srcRect b="0" l="0" r="0" t="0"/>
          <a:stretch/>
        </p:blipFill>
        <p:spPr>
          <a:xfrm>
            <a:off x="6715125" y="1857375"/>
            <a:ext cx="171450" cy="228600"/>
          </a:xfrm>
          <a:prstGeom prst="rect">
            <a:avLst/>
          </a:prstGeom>
          <a:noFill/>
          <a:ln>
            <a:noFill/>
          </a:ln>
        </p:spPr>
      </p:pic>
      <p:pic>
        <p:nvPicPr>
          <p:cNvPr descr="image.png" id="151" name="Google Shape;151;p16"/>
          <p:cNvPicPr preferRelativeResize="0"/>
          <p:nvPr/>
        </p:nvPicPr>
        <p:blipFill rotWithShape="1">
          <a:blip r:embed="rId8">
            <a:alphaModFix/>
          </a:blip>
          <a:srcRect b="0" l="0" r="0" t="0"/>
          <a:stretch/>
        </p:blipFill>
        <p:spPr>
          <a:xfrm>
            <a:off x="1000125" y="2347912"/>
            <a:ext cx="123825" cy="180975"/>
          </a:xfrm>
          <a:prstGeom prst="rect">
            <a:avLst/>
          </a:prstGeom>
          <a:noFill/>
          <a:ln>
            <a:noFill/>
          </a:ln>
        </p:spPr>
      </p:pic>
      <p:pic>
        <p:nvPicPr>
          <p:cNvPr descr="image.png" id="152" name="Google Shape;152;p16"/>
          <p:cNvPicPr preferRelativeResize="0"/>
          <p:nvPr/>
        </p:nvPicPr>
        <p:blipFill rotWithShape="1">
          <a:blip r:embed="rId8">
            <a:alphaModFix/>
          </a:blip>
          <a:srcRect b="0" l="0" r="0" t="0"/>
          <a:stretch/>
        </p:blipFill>
        <p:spPr>
          <a:xfrm>
            <a:off x="1000125" y="3039367"/>
            <a:ext cx="123825" cy="180975"/>
          </a:xfrm>
          <a:prstGeom prst="rect">
            <a:avLst/>
          </a:prstGeom>
          <a:noFill/>
          <a:ln>
            <a:noFill/>
          </a:ln>
        </p:spPr>
      </p:pic>
      <p:pic>
        <p:nvPicPr>
          <p:cNvPr descr="image.png" id="153" name="Google Shape;153;p16"/>
          <p:cNvPicPr preferRelativeResize="0"/>
          <p:nvPr/>
        </p:nvPicPr>
        <p:blipFill rotWithShape="1">
          <a:blip r:embed="rId8">
            <a:alphaModFix/>
          </a:blip>
          <a:srcRect b="0" l="0" r="0" t="0"/>
          <a:stretch/>
        </p:blipFill>
        <p:spPr>
          <a:xfrm>
            <a:off x="1000125" y="3730823"/>
            <a:ext cx="123825" cy="18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image.png" id="158" name="Google Shape;158;p17"/>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159" name="Google Shape;159;p17"/>
          <p:cNvPicPr preferRelativeResize="0"/>
          <p:nvPr/>
        </p:nvPicPr>
        <p:blipFill rotWithShape="1">
          <a:blip r:embed="rId4">
            <a:alphaModFix/>
          </a:blip>
          <a:srcRect b="0" l="0" r="0" t="0"/>
          <a:stretch/>
        </p:blipFill>
        <p:spPr>
          <a:xfrm>
            <a:off x="666750" y="2014537"/>
            <a:ext cx="5286375" cy="1672530"/>
          </a:xfrm>
          <a:prstGeom prst="rect">
            <a:avLst/>
          </a:prstGeom>
          <a:noFill/>
          <a:ln>
            <a:noFill/>
          </a:ln>
        </p:spPr>
      </p:pic>
      <p:pic>
        <p:nvPicPr>
          <p:cNvPr descr="image.png" id="160" name="Google Shape;160;p17"/>
          <p:cNvPicPr preferRelativeResize="0"/>
          <p:nvPr/>
        </p:nvPicPr>
        <p:blipFill rotWithShape="1">
          <a:blip r:embed="rId5">
            <a:alphaModFix/>
          </a:blip>
          <a:srcRect b="0" l="0" r="0" t="0"/>
          <a:stretch/>
        </p:blipFill>
        <p:spPr>
          <a:xfrm>
            <a:off x="6238875" y="2014537"/>
            <a:ext cx="5286375" cy="1672530"/>
          </a:xfrm>
          <a:prstGeom prst="rect">
            <a:avLst/>
          </a:prstGeom>
          <a:noFill/>
          <a:ln>
            <a:noFill/>
          </a:ln>
        </p:spPr>
      </p:pic>
      <p:pic>
        <p:nvPicPr>
          <p:cNvPr descr="image.png" id="161" name="Google Shape;161;p17"/>
          <p:cNvPicPr preferRelativeResize="0"/>
          <p:nvPr/>
        </p:nvPicPr>
        <p:blipFill rotWithShape="1">
          <a:blip r:embed="rId6">
            <a:alphaModFix/>
          </a:blip>
          <a:srcRect b="0" l="0" r="0" t="0"/>
          <a:stretch/>
        </p:blipFill>
        <p:spPr>
          <a:xfrm>
            <a:off x="666750" y="3972817"/>
            <a:ext cx="5286375" cy="1946820"/>
          </a:xfrm>
          <a:prstGeom prst="rect">
            <a:avLst/>
          </a:prstGeom>
          <a:noFill/>
          <a:ln>
            <a:noFill/>
          </a:ln>
        </p:spPr>
      </p:pic>
      <p:pic>
        <p:nvPicPr>
          <p:cNvPr descr="image.png" id="162" name="Google Shape;162;p17"/>
          <p:cNvPicPr preferRelativeResize="0"/>
          <p:nvPr/>
        </p:nvPicPr>
        <p:blipFill rotWithShape="1">
          <a:blip r:embed="rId7">
            <a:alphaModFix/>
          </a:blip>
          <a:srcRect b="0" l="0" r="0" t="0"/>
          <a:stretch/>
        </p:blipFill>
        <p:spPr>
          <a:xfrm>
            <a:off x="6238875" y="3972817"/>
            <a:ext cx="5286375" cy="1946820"/>
          </a:xfrm>
          <a:prstGeom prst="rect">
            <a:avLst/>
          </a:prstGeom>
          <a:noFill/>
          <a:ln>
            <a:noFill/>
          </a:ln>
        </p:spPr>
      </p:pic>
      <p:sp>
        <p:nvSpPr>
          <p:cNvPr id="163" name="Google Shape;163;p17"/>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7"/>
          <p:cNvSpPr txBox="1"/>
          <p:nvPr/>
        </p:nvSpPr>
        <p:spPr>
          <a:xfrm>
            <a:off x="666750" y="533400"/>
            <a:ext cx="11401425"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1E3A8A"/>
                </a:solidFill>
                <a:latin typeface="Montserrat SemiBold"/>
                <a:ea typeface="Montserrat SemiBold"/>
                <a:cs typeface="Montserrat SemiBold"/>
                <a:sym typeface="Montserrat SemiBold"/>
              </a:rPr>
              <a:t>Objectifs du Projet</a:t>
            </a:r>
            <a:endParaRPr/>
          </a:p>
        </p:txBody>
      </p:sp>
      <p:sp>
        <p:nvSpPr>
          <p:cNvPr id="165" name="Google Shape;165;p17"/>
          <p:cNvSpPr/>
          <p:nvPr/>
        </p:nvSpPr>
        <p:spPr>
          <a:xfrm>
            <a:off x="5715000" y="833437"/>
            <a:ext cx="7620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7"/>
          <p:cNvSpPr txBox="1"/>
          <p:nvPr/>
        </p:nvSpPr>
        <p:spPr>
          <a:xfrm>
            <a:off x="666750" y="6515100"/>
            <a:ext cx="5238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Objectifs</a:t>
            </a:r>
            <a:endParaRPr/>
          </a:p>
        </p:txBody>
      </p:sp>
      <p:sp>
        <p:nvSpPr>
          <p:cNvPr id="167" name="Google Shape;167;p17"/>
          <p:cNvSpPr txBox="1"/>
          <p:nvPr/>
        </p:nvSpPr>
        <p:spPr>
          <a:xfrm>
            <a:off x="11115675" y="6515100"/>
            <a:ext cx="762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a:t>
            </a:r>
            <a:r>
              <a:rPr lang="en-US" sz="1050">
                <a:solidFill>
                  <a:srgbClr val="94A3B8"/>
                </a:solidFill>
                <a:latin typeface="Roboto"/>
                <a:ea typeface="Roboto"/>
                <a:cs typeface="Roboto"/>
                <a:sym typeface="Roboto"/>
              </a:rPr>
              <a:t>4</a:t>
            </a:r>
            <a:endParaRPr/>
          </a:p>
        </p:txBody>
      </p:sp>
      <p:pic>
        <p:nvPicPr>
          <p:cNvPr descr="image.png" id="168" name="Google Shape;168;p17"/>
          <p:cNvPicPr preferRelativeResize="0"/>
          <p:nvPr/>
        </p:nvPicPr>
        <p:blipFill rotWithShape="1">
          <a:blip r:embed="rId8">
            <a:alphaModFix/>
          </a:blip>
          <a:srcRect b="0" l="0" r="0" t="0"/>
          <a:stretch/>
        </p:blipFill>
        <p:spPr>
          <a:xfrm>
            <a:off x="962025" y="2309812"/>
            <a:ext cx="609600" cy="609600"/>
          </a:xfrm>
          <a:prstGeom prst="rect">
            <a:avLst/>
          </a:prstGeom>
          <a:noFill/>
          <a:ln>
            <a:noFill/>
          </a:ln>
        </p:spPr>
      </p:pic>
      <p:pic>
        <p:nvPicPr>
          <p:cNvPr descr="image.png" id="169" name="Google Shape;169;p17"/>
          <p:cNvPicPr preferRelativeResize="0"/>
          <p:nvPr/>
        </p:nvPicPr>
        <p:blipFill rotWithShape="1">
          <a:blip r:embed="rId9">
            <a:alphaModFix/>
          </a:blip>
          <a:srcRect b="0" l="0" r="0" t="0"/>
          <a:stretch/>
        </p:blipFill>
        <p:spPr>
          <a:xfrm>
            <a:off x="6534150" y="2309812"/>
            <a:ext cx="609600" cy="609600"/>
          </a:xfrm>
          <a:prstGeom prst="rect">
            <a:avLst/>
          </a:prstGeom>
          <a:noFill/>
          <a:ln>
            <a:noFill/>
          </a:ln>
        </p:spPr>
      </p:pic>
      <p:pic>
        <p:nvPicPr>
          <p:cNvPr descr="image.png" id="170" name="Google Shape;170;p17"/>
          <p:cNvPicPr preferRelativeResize="0"/>
          <p:nvPr/>
        </p:nvPicPr>
        <p:blipFill rotWithShape="1">
          <a:blip r:embed="rId10">
            <a:alphaModFix/>
          </a:blip>
          <a:srcRect b="0" l="0" r="0" t="0"/>
          <a:stretch/>
        </p:blipFill>
        <p:spPr>
          <a:xfrm>
            <a:off x="962025" y="4268092"/>
            <a:ext cx="609600" cy="609600"/>
          </a:xfrm>
          <a:prstGeom prst="rect">
            <a:avLst/>
          </a:prstGeom>
          <a:noFill/>
          <a:ln>
            <a:noFill/>
          </a:ln>
        </p:spPr>
      </p:pic>
      <p:pic>
        <p:nvPicPr>
          <p:cNvPr descr="image.png" id="171" name="Google Shape;171;p17"/>
          <p:cNvPicPr preferRelativeResize="0"/>
          <p:nvPr/>
        </p:nvPicPr>
        <p:blipFill rotWithShape="1">
          <a:blip r:embed="rId10">
            <a:alphaModFix/>
          </a:blip>
          <a:srcRect b="0" l="0" r="0" t="0"/>
          <a:stretch/>
        </p:blipFill>
        <p:spPr>
          <a:xfrm>
            <a:off x="6534150" y="4268092"/>
            <a:ext cx="609600" cy="609600"/>
          </a:xfrm>
          <a:prstGeom prst="rect">
            <a:avLst/>
          </a:prstGeom>
          <a:noFill/>
          <a:ln>
            <a:noFill/>
          </a:ln>
        </p:spPr>
      </p:pic>
      <p:pic>
        <p:nvPicPr>
          <p:cNvPr descr="image.png" id="172" name="Google Shape;172;p17"/>
          <p:cNvPicPr preferRelativeResize="0"/>
          <p:nvPr/>
        </p:nvPicPr>
        <p:blipFill rotWithShape="1">
          <a:blip r:embed="rId11">
            <a:alphaModFix/>
          </a:blip>
          <a:srcRect b="0" l="0" r="0" t="0"/>
          <a:stretch/>
        </p:blipFill>
        <p:spPr>
          <a:xfrm>
            <a:off x="1076325" y="2462212"/>
            <a:ext cx="381000" cy="304800"/>
          </a:xfrm>
          <a:prstGeom prst="rect">
            <a:avLst/>
          </a:prstGeom>
          <a:noFill/>
          <a:ln>
            <a:noFill/>
          </a:ln>
        </p:spPr>
      </p:pic>
      <p:sp>
        <p:nvSpPr>
          <p:cNvPr id="173" name="Google Shape;173;p17"/>
          <p:cNvSpPr txBox="1"/>
          <p:nvPr/>
        </p:nvSpPr>
        <p:spPr>
          <a:xfrm>
            <a:off x="1762125" y="2309812"/>
            <a:ext cx="409051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334155"/>
                </a:solidFill>
                <a:latin typeface="Montserrat SemiBold"/>
                <a:ea typeface="Montserrat SemiBold"/>
                <a:cs typeface="Montserrat SemiBold"/>
                <a:sym typeface="Montserrat SemiBold"/>
              </a:rPr>
              <a:t>Automatisation</a:t>
            </a:r>
            <a:endParaRPr/>
          </a:p>
        </p:txBody>
      </p:sp>
      <p:sp>
        <p:nvSpPr>
          <p:cNvPr id="174" name="Google Shape;174;p17"/>
          <p:cNvSpPr txBox="1"/>
          <p:nvPr/>
        </p:nvSpPr>
        <p:spPr>
          <a:xfrm>
            <a:off x="1762125" y="2728912"/>
            <a:ext cx="38957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Pointage instantané par reconnaissance faciale, en local (entrée de salle) et à distance.</a:t>
            </a:r>
            <a:endParaRPr/>
          </a:p>
        </p:txBody>
      </p:sp>
      <p:pic>
        <p:nvPicPr>
          <p:cNvPr descr="image.png" id="175" name="Google Shape;175;p17"/>
          <p:cNvPicPr preferRelativeResize="0"/>
          <p:nvPr/>
        </p:nvPicPr>
        <p:blipFill rotWithShape="1">
          <a:blip r:embed="rId12">
            <a:alphaModFix/>
          </a:blip>
          <a:srcRect b="0" l="0" r="0" t="0"/>
          <a:stretch/>
        </p:blipFill>
        <p:spPr>
          <a:xfrm>
            <a:off x="6686550" y="2462212"/>
            <a:ext cx="304800" cy="304800"/>
          </a:xfrm>
          <a:prstGeom prst="rect">
            <a:avLst/>
          </a:prstGeom>
          <a:noFill/>
          <a:ln>
            <a:noFill/>
          </a:ln>
        </p:spPr>
      </p:pic>
      <p:sp>
        <p:nvSpPr>
          <p:cNvPr id="176" name="Google Shape;176;p17"/>
          <p:cNvSpPr txBox="1"/>
          <p:nvPr/>
        </p:nvSpPr>
        <p:spPr>
          <a:xfrm>
            <a:off x="7334250" y="2309812"/>
            <a:ext cx="409051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334155"/>
                </a:solidFill>
                <a:latin typeface="Montserrat SemiBold"/>
                <a:ea typeface="Montserrat SemiBold"/>
                <a:cs typeface="Montserrat SemiBold"/>
                <a:sym typeface="Montserrat SemiBold"/>
              </a:rPr>
              <a:t>Sécurité &amp; Anti-Fraude</a:t>
            </a:r>
            <a:endParaRPr/>
          </a:p>
        </p:txBody>
      </p:sp>
      <p:sp>
        <p:nvSpPr>
          <p:cNvPr id="177" name="Google Shape;177;p17"/>
          <p:cNvSpPr txBox="1"/>
          <p:nvPr/>
        </p:nvSpPr>
        <p:spPr>
          <a:xfrm>
            <a:off x="7334250" y="2728912"/>
            <a:ext cx="38957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Élimination des signatures par procuration grâce à l'identification biométrique unique.</a:t>
            </a:r>
            <a:endParaRPr/>
          </a:p>
        </p:txBody>
      </p:sp>
      <p:pic>
        <p:nvPicPr>
          <p:cNvPr descr="image.png" id="178" name="Google Shape;178;p17"/>
          <p:cNvPicPr preferRelativeResize="0"/>
          <p:nvPr/>
        </p:nvPicPr>
        <p:blipFill rotWithShape="1">
          <a:blip r:embed="rId13">
            <a:alphaModFix/>
          </a:blip>
          <a:srcRect b="0" l="0" r="0" t="0"/>
          <a:stretch/>
        </p:blipFill>
        <p:spPr>
          <a:xfrm>
            <a:off x="1133475" y="4420492"/>
            <a:ext cx="266700" cy="304800"/>
          </a:xfrm>
          <a:prstGeom prst="rect">
            <a:avLst/>
          </a:prstGeom>
          <a:noFill/>
          <a:ln>
            <a:noFill/>
          </a:ln>
        </p:spPr>
      </p:pic>
      <p:sp>
        <p:nvSpPr>
          <p:cNvPr id="179" name="Google Shape;179;p17"/>
          <p:cNvSpPr txBox="1"/>
          <p:nvPr/>
        </p:nvSpPr>
        <p:spPr>
          <a:xfrm>
            <a:off x="1762125" y="4268092"/>
            <a:ext cx="409051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334155"/>
                </a:solidFill>
                <a:latin typeface="Montserrat SemiBold"/>
                <a:ea typeface="Montserrat SemiBold"/>
                <a:cs typeface="Montserrat SemiBold"/>
                <a:sym typeface="Montserrat SemiBold"/>
              </a:rPr>
              <a:t>Fiabilité &amp; Traçabilité</a:t>
            </a:r>
            <a:endParaRPr/>
          </a:p>
        </p:txBody>
      </p:sp>
      <p:sp>
        <p:nvSpPr>
          <p:cNvPr id="180" name="Google Shape;180;p17"/>
          <p:cNvSpPr txBox="1"/>
          <p:nvPr/>
        </p:nvSpPr>
        <p:spPr>
          <a:xfrm>
            <a:off x="1762125" y="4687192"/>
            <a:ext cx="38957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Centralisation des données pour un historique précis et inaltérable des présences.</a:t>
            </a:r>
            <a:endParaRPr/>
          </a:p>
        </p:txBody>
      </p:sp>
      <p:pic>
        <p:nvPicPr>
          <p:cNvPr descr="image.png" id="181" name="Google Shape;181;p17"/>
          <p:cNvPicPr preferRelativeResize="0"/>
          <p:nvPr/>
        </p:nvPicPr>
        <p:blipFill rotWithShape="1">
          <a:blip r:embed="rId14">
            <a:alphaModFix/>
          </a:blip>
          <a:srcRect b="0" l="0" r="0" t="0"/>
          <a:stretch/>
        </p:blipFill>
        <p:spPr>
          <a:xfrm>
            <a:off x="6648450" y="4420492"/>
            <a:ext cx="381000" cy="304800"/>
          </a:xfrm>
          <a:prstGeom prst="rect">
            <a:avLst/>
          </a:prstGeom>
          <a:noFill/>
          <a:ln>
            <a:noFill/>
          </a:ln>
        </p:spPr>
      </p:pic>
      <p:sp>
        <p:nvSpPr>
          <p:cNvPr id="182" name="Google Shape;182;p17"/>
          <p:cNvSpPr txBox="1"/>
          <p:nvPr/>
        </p:nvSpPr>
        <p:spPr>
          <a:xfrm>
            <a:off x="7334250" y="4268092"/>
            <a:ext cx="409051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334155"/>
                </a:solidFill>
                <a:latin typeface="Montserrat SemiBold"/>
                <a:ea typeface="Montserrat SemiBold"/>
                <a:cs typeface="Montserrat SemiBold"/>
                <a:sym typeface="Montserrat SemiBold"/>
              </a:rPr>
              <a:t>Interface Intuitive</a:t>
            </a:r>
            <a:endParaRPr/>
          </a:p>
        </p:txBody>
      </p:sp>
      <p:sp>
        <p:nvSpPr>
          <p:cNvPr id="183" name="Google Shape;183;p17"/>
          <p:cNvSpPr txBox="1"/>
          <p:nvPr/>
        </p:nvSpPr>
        <p:spPr>
          <a:xfrm>
            <a:off x="7334250" y="4687192"/>
            <a:ext cx="38958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Plateforme Web ergonomique pour les administrateurs (gestion) et le </a:t>
            </a:r>
            <a:r>
              <a:rPr lang="en-US" sz="1350">
                <a:solidFill>
                  <a:srgbClr val="475569"/>
                </a:solidFill>
                <a:latin typeface="Roboto"/>
                <a:ea typeface="Roboto"/>
                <a:cs typeface="Roboto"/>
                <a:sym typeface="Roboto"/>
              </a:rPr>
              <a:t>personne</a:t>
            </a:r>
            <a:r>
              <a:rPr b="0" i="0" lang="en-US" sz="1350" u="none" cap="none" strike="noStrike">
                <a:solidFill>
                  <a:srgbClr val="475569"/>
                </a:solidFill>
                <a:latin typeface="Roboto"/>
                <a:ea typeface="Roboto"/>
                <a:cs typeface="Roboto"/>
                <a:sym typeface="Roboto"/>
              </a:rPr>
              <a:t> (consultation).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image.png" id="188" name="Google Shape;188;p18"/>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189" name="Google Shape;189;p18"/>
          <p:cNvPicPr preferRelativeResize="0"/>
          <p:nvPr/>
        </p:nvPicPr>
        <p:blipFill rotWithShape="1">
          <a:blip r:embed="rId4">
            <a:alphaModFix/>
          </a:blip>
          <a:srcRect b="0" l="0" r="0" t="0"/>
          <a:stretch/>
        </p:blipFill>
        <p:spPr>
          <a:xfrm>
            <a:off x="756325" y="1695450"/>
            <a:ext cx="5095875" cy="4776600"/>
          </a:xfrm>
          <a:prstGeom prst="rect">
            <a:avLst/>
          </a:prstGeom>
          <a:noFill/>
          <a:ln>
            <a:noFill/>
          </a:ln>
        </p:spPr>
      </p:pic>
      <p:pic>
        <p:nvPicPr>
          <p:cNvPr descr="image.png" id="190" name="Google Shape;190;p18"/>
          <p:cNvPicPr preferRelativeResize="0"/>
          <p:nvPr/>
        </p:nvPicPr>
        <p:blipFill rotWithShape="1">
          <a:blip r:embed="rId5">
            <a:alphaModFix/>
          </a:blip>
          <a:srcRect b="0" l="0" r="0" t="0"/>
          <a:stretch/>
        </p:blipFill>
        <p:spPr>
          <a:xfrm>
            <a:off x="6429375" y="1647825"/>
            <a:ext cx="5095875" cy="4776600"/>
          </a:xfrm>
          <a:prstGeom prst="rect">
            <a:avLst/>
          </a:prstGeom>
          <a:noFill/>
          <a:ln>
            <a:noFill/>
          </a:ln>
        </p:spPr>
      </p:pic>
      <p:sp>
        <p:nvSpPr>
          <p:cNvPr id="191" name="Google Shape;191;p18"/>
          <p:cNvSpPr/>
          <p:nvPr/>
        </p:nvSpPr>
        <p:spPr>
          <a:xfrm>
            <a:off x="0" y="0"/>
            <a:ext cx="12192000" cy="573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92" name="Google Shape;192;p18"/>
          <p:cNvSpPr txBox="1"/>
          <p:nvPr/>
        </p:nvSpPr>
        <p:spPr>
          <a:xfrm>
            <a:off x="666750" y="533400"/>
            <a:ext cx="11401500" cy="408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650" u="none" cap="none" strike="noStrike">
                <a:solidFill>
                  <a:srgbClr val="073763"/>
                </a:solidFill>
                <a:latin typeface="Montserrat SemiBold"/>
                <a:ea typeface="Montserrat SemiBold"/>
                <a:cs typeface="Montserrat SemiBold"/>
                <a:sym typeface="Montserrat SemiBold"/>
              </a:rPr>
              <a:t>Objectifs Stratégiques du Projet</a:t>
            </a:r>
            <a:endParaRPr sz="900">
              <a:solidFill>
                <a:srgbClr val="073763"/>
              </a:solidFill>
            </a:endParaRPr>
          </a:p>
        </p:txBody>
      </p:sp>
      <p:sp>
        <p:nvSpPr>
          <p:cNvPr id="193" name="Google Shape;193;p18"/>
          <p:cNvSpPr/>
          <p:nvPr/>
        </p:nvSpPr>
        <p:spPr>
          <a:xfrm>
            <a:off x="5619750" y="833437"/>
            <a:ext cx="9525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94" name="Google Shape;194;p18"/>
          <p:cNvSpPr txBox="1"/>
          <p:nvPr/>
        </p:nvSpPr>
        <p:spPr>
          <a:xfrm>
            <a:off x="254000" y="6667508"/>
            <a:ext cx="2482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Objectifs du Projet</a:t>
            </a:r>
            <a:endParaRPr/>
          </a:p>
        </p:txBody>
      </p:sp>
      <p:sp>
        <p:nvSpPr>
          <p:cNvPr id="195" name="Google Shape;195;p18"/>
          <p:cNvSpPr txBox="1"/>
          <p:nvPr/>
        </p:nvSpPr>
        <p:spPr>
          <a:xfrm>
            <a:off x="10229850" y="6515100"/>
            <a:ext cx="1295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a:t>
            </a:r>
            <a:r>
              <a:rPr lang="en-US" sz="1050">
                <a:solidFill>
                  <a:srgbClr val="94A3B8"/>
                </a:solidFill>
                <a:latin typeface="Roboto"/>
                <a:ea typeface="Roboto"/>
                <a:cs typeface="Roboto"/>
                <a:sym typeface="Roboto"/>
              </a:rPr>
              <a:t>5</a:t>
            </a:r>
            <a:endParaRPr/>
          </a:p>
        </p:txBody>
      </p:sp>
      <p:sp>
        <p:nvSpPr>
          <p:cNvPr id="196" name="Google Shape;196;p18"/>
          <p:cNvSpPr txBox="1"/>
          <p:nvPr/>
        </p:nvSpPr>
        <p:spPr>
          <a:xfrm>
            <a:off x="1514475" y="2095500"/>
            <a:ext cx="38481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284C7"/>
                </a:solidFill>
                <a:latin typeface="Montserrat"/>
                <a:ea typeface="Montserrat"/>
                <a:cs typeface="Montserrat"/>
                <a:sym typeface="Montserrat"/>
              </a:rPr>
              <a:t>Le Défi Matériel</a:t>
            </a:r>
            <a:endParaRPr>
              <a:solidFill>
                <a:srgbClr val="0284C7"/>
              </a:solidFill>
            </a:endParaRPr>
          </a:p>
        </p:txBody>
      </p:sp>
      <p:sp>
        <p:nvSpPr>
          <p:cNvPr id="197" name="Google Shape;197;p18"/>
          <p:cNvSpPr txBox="1"/>
          <p:nvPr/>
        </p:nvSpPr>
        <p:spPr>
          <a:xfrm>
            <a:off x="1066800" y="2657475"/>
            <a:ext cx="4295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Le terminal de reconnaissance faciale Hikvision, l'équipement standard choisi, possède une contrainte majeure :</a:t>
            </a:r>
            <a:endParaRPr>
              <a:solidFill>
                <a:srgbClr val="334155"/>
              </a:solidFill>
            </a:endParaRPr>
          </a:p>
        </p:txBody>
      </p:sp>
      <p:sp>
        <p:nvSpPr>
          <p:cNvPr id="198" name="Google Shape;198;p18"/>
          <p:cNvSpPr txBox="1"/>
          <p:nvPr/>
        </p:nvSpPr>
        <p:spPr>
          <a:xfrm>
            <a:off x="1066838" y="3877130"/>
            <a:ext cx="4295700" cy="184800"/>
          </a:xfrm>
          <a:prstGeom prst="rect">
            <a:avLst/>
          </a:prstGeom>
          <a:noFill/>
          <a:ln>
            <a:noFill/>
          </a:ln>
        </p:spPr>
        <p:txBody>
          <a:bodyPr anchorCtr="0" anchor="t" bIns="0" lIns="952500" spcFirstLastPara="1" rIns="0" wrap="square" tIns="0">
            <a:spAutoFit/>
          </a:bodyPr>
          <a:lstStyle/>
          <a:p>
            <a:pPr indent="0" lvl="0" marL="0" marR="0" rtl="0" algn="ctr">
              <a:spcBef>
                <a:spcPts val="0"/>
              </a:spcBef>
              <a:spcAft>
                <a:spcPts val="0"/>
              </a:spcAft>
              <a:buNone/>
            </a:pPr>
            <a:r>
              <a:rPr b="0" i="0" lang="en-US" sz="1200" cap="none" strike="noStrike">
                <a:solidFill>
                  <a:schemeClr val="accent5"/>
                </a:solidFill>
                <a:latin typeface="Roboto ExtraBold"/>
                <a:ea typeface="Roboto ExtraBold"/>
                <a:cs typeface="Roboto ExtraBold"/>
                <a:sym typeface="Roboto ExtraBold"/>
              </a:rPr>
              <a:t>1500</a:t>
            </a:r>
            <a:r>
              <a:rPr b="0" i="0" lang="en-US" sz="1200" cap="none" strike="noStrike">
                <a:solidFill>
                  <a:schemeClr val="accent5"/>
                </a:solidFill>
                <a:latin typeface="Roboto"/>
                <a:ea typeface="Roboto"/>
                <a:cs typeface="Roboto"/>
                <a:sym typeface="Roboto"/>
              </a:rPr>
              <a:t> </a:t>
            </a:r>
            <a:r>
              <a:rPr b="0" i="0" lang="en-US" sz="1200" cap="none" strike="noStrike">
                <a:solidFill>
                  <a:schemeClr val="accent5"/>
                </a:solidFill>
                <a:latin typeface="Roboto Medium"/>
                <a:ea typeface="Roboto Medium"/>
                <a:cs typeface="Roboto Medium"/>
                <a:sym typeface="Roboto Medium"/>
              </a:rPr>
              <a:t>Personnes Maximum (Limite Technique)</a:t>
            </a:r>
            <a:endParaRPr>
              <a:solidFill>
                <a:schemeClr val="accent5"/>
              </a:solidFill>
            </a:endParaRPr>
          </a:p>
        </p:txBody>
      </p:sp>
      <p:sp>
        <p:nvSpPr>
          <p:cNvPr id="199" name="Google Shape;199;p18"/>
          <p:cNvSpPr txBox="1"/>
          <p:nvPr/>
        </p:nvSpPr>
        <p:spPr>
          <a:xfrm>
            <a:off x="1130300" y="5329225"/>
            <a:ext cx="42957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Medium"/>
                <a:ea typeface="Roboto Medium"/>
                <a:cs typeface="Roboto Medium"/>
                <a:sym typeface="Roboto Medium"/>
              </a:rPr>
              <a:t>Cette limite empêchait l'application d'être déployée à l'échelle (ex: de l'établissement).</a:t>
            </a:r>
            <a:endParaRPr>
              <a:solidFill>
                <a:srgbClr val="334155"/>
              </a:solidFill>
            </a:endParaRPr>
          </a:p>
        </p:txBody>
      </p:sp>
      <p:sp>
        <p:nvSpPr>
          <p:cNvPr id="200" name="Google Shape;200;p18"/>
          <p:cNvSpPr txBox="1"/>
          <p:nvPr/>
        </p:nvSpPr>
        <p:spPr>
          <a:xfrm>
            <a:off x="7277100" y="2047875"/>
            <a:ext cx="4698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EA5E9"/>
                </a:solidFill>
                <a:latin typeface="Montserrat"/>
                <a:ea typeface="Montserrat"/>
                <a:cs typeface="Montserrat"/>
                <a:sym typeface="Montserrat"/>
              </a:rPr>
              <a:t>Objectif de</a:t>
            </a:r>
            <a:r>
              <a:rPr b="1" i="0" lang="en-US" sz="2400" u="none" cap="none" strike="noStrike">
                <a:solidFill>
                  <a:srgbClr val="0EA5E9"/>
                </a:solidFill>
                <a:latin typeface="Montserrat"/>
                <a:ea typeface="Montserrat"/>
                <a:cs typeface="Montserrat"/>
                <a:sym typeface="Montserrat"/>
              </a:rPr>
              <a:t> </a:t>
            </a:r>
            <a:r>
              <a:rPr b="1" i="0" lang="en-US" sz="2400" u="none" cap="none" strike="noStrike">
                <a:solidFill>
                  <a:srgbClr val="0EA5E9"/>
                </a:solidFill>
                <a:latin typeface="Montserrat"/>
                <a:ea typeface="Montserrat"/>
                <a:cs typeface="Montserrat"/>
                <a:sym typeface="Montserrat"/>
              </a:rPr>
              <a:t>Déploiement</a:t>
            </a:r>
            <a:endParaRPr>
              <a:solidFill>
                <a:srgbClr val="0EA5E9"/>
              </a:solidFill>
            </a:endParaRPr>
          </a:p>
        </p:txBody>
      </p:sp>
      <p:sp>
        <p:nvSpPr>
          <p:cNvPr id="201" name="Google Shape;201;p18"/>
          <p:cNvSpPr txBox="1"/>
          <p:nvPr/>
        </p:nvSpPr>
        <p:spPr>
          <a:xfrm>
            <a:off x="6829425" y="2568575"/>
            <a:ext cx="4295700" cy="47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latin typeface="Roboto"/>
                <a:ea typeface="Roboto"/>
                <a:cs typeface="Roboto"/>
                <a:sym typeface="Roboto"/>
              </a:rPr>
              <a:t>L'objectif principal du projet  était de surmonter </a:t>
            </a:r>
            <a:r>
              <a:rPr lang="en-US" sz="1600">
                <a:solidFill>
                  <a:schemeClr val="dk1"/>
                </a:solidFill>
              </a:rPr>
              <a:t>cette limite</a:t>
            </a:r>
            <a:r>
              <a:rPr b="0" i="0" lang="en-US" sz="1500" u="none" cap="none" strike="noStrike">
                <a:latin typeface="Roboto"/>
                <a:ea typeface="Roboto"/>
                <a:cs typeface="Roboto"/>
                <a:sym typeface="Roboto"/>
              </a:rPr>
              <a:t>:</a:t>
            </a:r>
            <a:endParaRPr/>
          </a:p>
        </p:txBody>
      </p:sp>
      <p:sp>
        <p:nvSpPr>
          <p:cNvPr id="202" name="Google Shape;202;p18"/>
          <p:cNvSpPr txBox="1"/>
          <p:nvPr/>
        </p:nvSpPr>
        <p:spPr>
          <a:xfrm>
            <a:off x="6829425" y="3099858"/>
            <a:ext cx="4295700" cy="477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100">
                <a:solidFill>
                  <a:srgbClr val="0284C7"/>
                </a:solidFill>
                <a:latin typeface="Roboto ExtraBold"/>
                <a:ea typeface="Roboto ExtraBold"/>
                <a:cs typeface="Roboto ExtraBold"/>
                <a:sym typeface="Roboto ExtraBold"/>
              </a:rPr>
              <a:t>+</a:t>
            </a:r>
            <a:r>
              <a:rPr b="0" i="0" lang="en-US" sz="3100" u="none" cap="none" strike="noStrike">
                <a:solidFill>
                  <a:srgbClr val="0284C7"/>
                </a:solidFill>
                <a:latin typeface="Roboto ExtraBold"/>
                <a:ea typeface="Roboto ExtraBold"/>
                <a:cs typeface="Roboto ExtraBold"/>
                <a:sym typeface="Roboto ExtraBold"/>
              </a:rPr>
              <a:t>10 000</a:t>
            </a:r>
            <a:endParaRPr sz="100">
              <a:solidFill>
                <a:srgbClr val="0284C7"/>
              </a:solidFill>
            </a:endParaRPr>
          </a:p>
        </p:txBody>
      </p:sp>
      <p:sp>
        <p:nvSpPr>
          <p:cNvPr id="203" name="Google Shape;203;p18"/>
          <p:cNvSpPr txBox="1"/>
          <p:nvPr/>
        </p:nvSpPr>
        <p:spPr>
          <a:xfrm>
            <a:off x="6829425" y="3628925"/>
            <a:ext cx="42957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350">
                <a:solidFill>
                  <a:srgbClr val="0284C7"/>
                </a:solidFill>
                <a:latin typeface="Roboto"/>
                <a:ea typeface="Roboto"/>
                <a:cs typeface="Roboto"/>
                <a:sym typeface="Roboto"/>
              </a:rPr>
              <a:t>Personne</a:t>
            </a:r>
            <a:r>
              <a:rPr b="0" i="0" lang="en-US" sz="1350" u="none" cap="none" strike="noStrike">
                <a:solidFill>
                  <a:srgbClr val="0284C7"/>
                </a:solidFill>
                <a:latin typeface="Roboto"/>
                <a:ea typeface="Roboto"/>
                <a:cs typeface="Roboto"/>
                <a:sym typeface="Roboto"/>
              </a:rPr>
              <a:t>s à Gérer</a:t>
            </a:r>
            <a:endParaRPr>
              <a:solidFill>
                <a:srgbClr val="0284C7"/>
              </a:solidFill>
            </a:endParaRPr>
          </a:p>
        </p:txBody>
      </p:sp>
      <p:pic>
        <p:nvPicPr>
          <p:cNvPr descr="image.png" id="204" name="Google Shape;204;p18"/>
          <p:cNvPicPr preferRelativeResize="0"/>
          <p:nvPr/>
        </p:nvPicPr>
        <p:blipFill rotWithShape="1">
          <a:blip r:embed="rId6">
            <a:alphaModFix/>
          </a:blip>
          <a:srcRect b="0" l="0" r="0" t="0"/>
          <a:stretch/>
        </p:blipFill>
        <p:spPr>
          <a:xfrm>
            <a:off x="1066800" y="2128837"/>
            <a:ext cx="304800" cy="304800"/>
          </a:xfrm>
          <a:prstGeom prst="rect">
            <a:avLst/>
          </a:prstGeom>
          <a:noFill/>
          <a:ln>
            <a:noFill/>
          </a:ln>
        </p:spPr>
      </p:pic>
      <p:pic>
        <p:nvPicPr>
          <p:cNvPr descr="image.png" id="205" name="Google Shape;205;p18"/>
          <p:cNvPicPr preferRelativeResize="0"/>
          <p:nvPr/>
        </p:nvPicPr>
        <p:blipFill rotWithShape="1">
          <a:blip r:embed="rId7">
            <a:alphaModFix/>
          </a:blip>
          <a:srcRect b="0" l="0" r="0" t="0"/>
          <a:stretch/>
        </p:blipFill>
        <p:spPr>
          <a:xfrm>
            <a:off x="2638887" y="4240200"/>
            <a:ext cx="952500" cy="952500"/>
          </a:xfrm>
          <a:prstGeom prst="rect">
            <a:avLst/>
          </a:prstGeom>
          <a:noFill/>
          <a:ln>
            <a:noFill/>
          </a:ln>
        </p:spPr>
      </p:pic>
      <p:pic>
        <p:nvPicPr>
          <p:cNvPr descr="image.png" id="206" name="Google Shape;206;p18"/>
          <p:cNvPicPr preferRelativeResize="0"/>
          <p:nvPr/>
        </p:nvPicPr>
        <p:blipFill rotWithShape="1">
          <a:blip r:embed="rId8">
            <a:alphaModFix/>
          </a:blip>
          <a:srcRect b="0" l="0" r="0" t="0"/>
          <a:stretch/>
        </p:blipFill>
        <p:spPr>
          <a:xfrm>
            <a:off x="6829425" y="2076450"/>
            <a:ext cx="304800" cy="304800"/>
          </a:xfrm>
          <a:prstGeom prst="rect">
            <a:avLst/>
          </a:prstGeom>
          <a:noFill/>
          <a:ln>
            <a:noFill/>
          </a:ln>
        </p:spPr>
      </p:pic>
      <p:sp>
        <p:nvSpPr>
          <p:cNvPr id="207" name="Google Shape;207;p18"/>
          <p:cNvSpPr txBox="1"/>
          <p:nvPr/>
        </p:nvSpPr>
        <p:spPr>
          <a:xfrm>
            <a:off x="7096125" y="3965575"/>
            <a:ext cx="4029000" cy="2310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1500" u="none" cap="none" strike="noStrike">
                <a:solidFill>
                  <a:srgbClr val="334155"/>
                </a:solidFill>
                <a:latin typeface="Roboto"/>
                <a:ea typeface="Roboto"/>
                <a:cs typeface="Roboto"/>
                <a:sym typeface="Roboto"/>
              </a:rPr>
              <a:t>Maximiser l'efficacité du système existant.</a:t>
            </a:r>
            <a:endParaRPr>
              <a:solidFill>
                <a:srgbClr val="334155"/>
              </a:solidFill>
            </a:endParaRPr>
          </a:p>
        </p:txBody>
      </p:sp>
      <p:sp>
        <p:nvSpPr>
          <p:cNvPr id="208" name="Google Shape;208;p18"/>
          <p:cNvSpPr txBox="1"/>
          <p:nvPr/>
        </p:nvSpPr>
        <p:spPr>
          <a:xfrm>
            <a:off x="7115175" y="4451350"/>
            <a:ext cx="4010100" cy="6465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1500" u="none" cap="none" strike="noStrike">
                <a:solidFill>
                  <a:srgbClr val="334155"/>
                </a:solidFill>
                <a:latin typeface="Roboto"/>
                <a:ea typeface="Roboto"/>
                <a:cs typeface="Roboto"/>
                <a:sym typeface="Roboto"/>
              </a:rPr>
              <a:t>Minimiser les coûts en évitant l'achat de matériel supplémentaire.</a:t>
            </a:r>
            <a:endParaRPr>
              <a:solidFill>
                <a:srgbClr val="334155"/>
              </a:solidFill>
            </a:endParaRPr>
          </a:p>
        </p:txBody>
      </p:sp>
      <p:sp>
        <p:nvSpPr>
          <p:cNvPr id="209" name="Google Shape;209;p18"/>
          <p:cNvSpPr txBox="1"/>
          <p:nvPr/>
        </p:nvSpPr>
        <p:spPr>
          <a:xfrm>
            <a:off x="7115175" y="5280025"/>
            <a:ext cx="4010100" cy="6465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1500" u="none" cap="none" strike="noStrike">
                <a:solidFill>
                  <a:srgbClr val="334155"/>
                </a:solidFill>
                <a:latin typeface="Roboto"/>
                <a:ea typeface="Roboto"/>
                <a:cs typeface="Roboto"/>
                <a:sym typeface="Roboto"/>
              </a:rPr>
              <a:t>Assurer une haute fiabilité et une mise à jour en temps réel.</a:t>
            </a:r>
            <a:endParaRPr>
              <a:solidFill>
                <a:srgbClr val="334155"/>
              </a:solidFill>
            </a:endParaRPr>
          </a:p>
        </p:txBody>
      </p:sp>
      <p:pic>
        <p:nvPicPr>
          <p:cNvPr descr="image.png" id="210" name="Google Shape;210;p18"/>
          <p:cNvPicPr preferRelativeResize="0"/>
          <p:nvPr/>
        </p:nvPicPr>
        <p:blipFill rotWithShape="1">
          <a:blip r:embed="rId9">
            <a:alphaModFix/>
          </a:blip>
          <a:srcRect b="0" l="0" r="0" t="0"/>
          <a:stretch/>
        </p:blipFill>
        <p:spPr>
          <a:xfrm>
            <a:off x="6829425" y="4008437"/>
            <a:ext cx="171450" cy="200025"/>
          </a:xfrm>
          <a:prstGeom prst="rect">
            <a:avLst/>
          </a:prstGeom>
          <a:noFill/>
          <a:ln>
            <a:noFill/>
          </a:ln>
        </p:spPr>
      </p:pic>
      <p:pic>
        <p:nvPicPr>
          <p:cNvPr descr="image.png" id="211" name="Google Shape;211;p18"/>
          <p:cNvPicPr preferRelativeResize="0"/>
          <p:nvPr/>
        </p:nvPicPr>
        <p:blipFill rotWithShape="1">
          <a:blip r:embed="rId10">
            <a:alphaModFix/>
          </a:blip>
          <a:srcRect b="0" l="0" r="0" t="0"/>
          <a:stretch/>
        </p:blipFill>
        <p:spPr>
          <a:xfrm>
            <a:off x="6829425" y="4494212"/>
            <a:ext cx="190500" cy="200025"/>
          </a:xfrm>
          <a:prstGeom prst="rect">
            <a:avLst/>
          </a:prstGeom>
          <a:noFill/>
          <a:ln>
            <a:noFill/>
          </a:ln>
        </p:spPr>
      </p:pic>
      <p:pic>
        <p:nvPicPr>
          <p:cNvPr descr="image.png" id="212" name="Google Shape;212;p18"/>
          <p:cNvPicPr preferRelativeResize="0"/>
          <p:nvPr/>
        </p:nvPicPr>
        <p:blipFill rotWithShape="1">
          <a:blip r:embed="rId11">
            <a:alphaModFix/>
          </a:blip>
          <a:srcRect b="0" l="0" r="0" t="0"/>
          <a:stretch/>
        </p:blipFill>
        <p:spPr>
          <a:xfrm>
            <a:off x="6829425" y="5322887"/>
            <a:ext cx="190500" cy="20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descr="image.png" id="217" name="Google Shape;217;p19"/>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218" name="Google Shape;218;p19"/>
          <p:cNvPicPr preferRelativeResize="0"/>
          <p:nvPr/>
        </p:nvPicPr>
        <p:blipFill rotWithShape="1">
          <a:blip r:embed="rId4">
            <a:alphaModFix/>
          </a:blip>
          <a:srcRect b="0" l="0" r="0" t="0"/>
          <a:stretch/>
        </p:blipFill>
        <p:spPr>
          <a:xfrm>
            <a:off x="6381750" y="2157412"/>
            <a:ext cx="5143500" cy="3619500"/>
          </a:xfrm>
          <a:prstGeom prst="rect">
            <a:avLst/>
          </a:prstGeom>
          <a:noFill/>
          <a:ln>
            <a:noFill/>
          </a:ln>
        </p:spPr>
      </p:pic>
      <p:sp>
        <p:nvSpPr>
          <p:cNvPr id="219" name="Google Shape;219;p19"/>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19"/>
          <p:cNvSpPr txBox="1"/>
          <p:nvPr/>
        </p:nvSpPr>
        <p:spPr>
          <a:xfrm>
            <a:off x="666750" y="533400"/>
            <a:ext cx="114015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1E3A8A"/>
                </a:solidFill>
                <a:latin typeface="Montserrat SemiBold"/>
                <a:ea typeface="Montserrat SemiBold"/>
                <a:cs typeface="Montserrat SemiBold"/>
                <a:sym typeface="Montserrat SemiBold"/>
              </a:rPr>
              <a:t>Architecture Technique et tech</a:t>
            </a:r>
            <a:r>
              <a:rPr lang="en-US" sz="3150">
                <a:solidFill>
                  <a:srgbClr val="1E3A8A"/>
                </a:solidFill>
                <a:latin typeface="Montserrat SemiBold"/>
                <a:ea typeface="Montserrat SemiBold"/>
                <a:cs typeface="Montserrat SemiBold"/>
                <a:sym typeface="Montserrat SemiBold"/>
              </a:rPr>
              <a:t>nologie</a:t>
            </a:r>
            <a:endParaRPr/>
          </a:p>
        </p:txBody>
      </p:sp>
      <p:sp>
        <p:nvSpPr>
          <p:cNvPr id="221" name="Google Shape;221;p19"/>
          <p:cNvSpPr/>
          <p:nvPr/>
        </p:nvSpPr>
        <p:spPr>
          <a:xfrm>
            <a:off x="5715000" y="833437"/>
            <a:ext cx="7620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9"/>
          <p:cNvSpPr txBox="1"/>
          <p:nvPr/>
        </p:nvSpPr>
        <p:spPr>
          <a:xfrm>
            <a:off x="666750" y="6515100"/>
            <a:ext cx="7239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Architecture</a:t>
            </a:r>
            <a:endParaRPr/>
          </a:p>
        </p:txBody>
      </p:sp>
      <p:sp>
        <p:nvSpPr>
          <p:cNvPr id="223" name="Google Shape;223;p19"/>
          <p:cNvSpPr txBox="1"/>
          <p:nvPr/>
        </p:nvSpPr>
        <p:spPr>
          <a:xfrm>
            <a:off x="11115675" y="6515100"/>
            <a:ext cx="669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6</a:t>
            </a:r>
            <a:endParaRPr sz="1050">
              <a:solidFill>
                <a:srgbClr val="94A3B8"/>
              </a:solidFill>
              <a:latin typeface="Roboto"/>
              <a:ea typeface="Roboto"/>
              <a:cs typeface="Roboto"/>
              <a:sym typeface="Roboto"/>
            </a:endParaRPr>
          </a:p>
          <a:p>
            <a:pPr indent="0" lvl="0" marL="0" marR="0" rtl="0" algn="l">
              <a:spcBef>
                <a:spcPts val="0"/>
              </a:spcBef>
              <a:spcAft>
                <a:spcPts val="0"/>
              </a:spcAft>
              <a:buNone/>
            </a:pPr>
            <a:r>
              <a:rPr lang="en-US" sz="1050">
                <a:solidFill>
                  <a:srgbClr val="94A3B8"/>
                </a:solidFill>
                <a:latin typeface="Roboto"/>
                <a:ea typeface="Roboto"/>
                <a:cs typeface="Roboto"/>
                <a:sym typeface="Roboto"/>
              </a:rPr>
              <a:t>-</a:t>
            </a:r>
            <a:endParaRPr sz="1050">
              <a:solidFill>
                <a:srgbClr val="94A3B8"/>
              </a:solidFill>
              <a:latin typeface="Roboto"/>
              <a:ea typeface="Roboto"/>
              <a:cs typeface="Roboto"/>
              <a:sym typeface="Roboto"/>
            </a:endParaRPr>
          </a:p>
        </p:txBody>
      </p:sp>
      <p:pic>
        <p:nvPicPr>
          <p:cNvPr id="224" name="Google Shape;224;p19" title="Slide 16_9 - 1.png"/>
          <p:cNvPicPr preferRelativeResize="0"/>
          <p:nvPr/>
        </p:nvPicPr>
        <p:blipFill rotWithShape="1">
          <a:blip r:embed="rId5">
            <a:alphaModFix/>
          </a:blip>
          <a:srcRect b="14100" l="0" r="0" t="14107"/>
          <a:stretch/>
        </p:blipFill>
        <p:spPr>
          <a:xfrm>
            <a:off x="6381750" y="2373500"/>
            <a:ext cx="5143500" cy="3217326"/>
          </a:xfrm>
          <a:prstGeom prst="rect">
            <a:avLst/>
          </a:prstGeom>
          <a:noFill/>
          <a:ln>
            <a:noFill/>
          </a:ln>
        </p:spPr>
      </p:pic>
      <p:pic>
        <p:nvPicPr>
          <p:cNvPr descr="image.png" id="225" name="Google Shape;225;p19"/>
          <p:cNvPicPr preferRelativeResize="0"/>
          <p:nvPr/>
        </p:nvPicPr>
        <p:blipFill rotWithShape="1">
          <a:blip r:embed="rId6">
            <a:alphaModFix/>
          </a:blip>
          <a:srcRect b="0" l="0" r="0" t="0"/>
          <a:stretch/>
        </p:blipFill>
        <p:spPr>
          <a:xfrm>
            <a:off x="666750" y="2426047"/>
            <a:ext cx="571500" cy="464790"/>
          </a:xfrm>
          <a:prstGeom prst="rect">
            <a:avLst/>
          </a:prstGeom>
          <a:noFill/>
          <a:ln>
            <a:noFill/>
          </a:ln>
        </p:spPr>
      </p:pic>
      <p:pic>
        <p:nvPicPr>
          <p:cNvPr descr="image.png" id="226" name="Google Shape;226;p19"/>
          <p:cNvPicPr preferRelativeResize="0"/>
          <p:nvPr/>
        </p:nvPicPr>
        <p:blipFill rotWithShape="1">
          <a:blip r:embed="rId7">
            <a:alphaModFix/>
          </a:blip>
          <a:srcRect b="0" l="0" r="0" t="0"/>
          <a:stretch/>
        </p:blipFill>
        <p:spPr>
          <a:xfrm>
            <a:off x="666750" y="3260377"/>
            <a:ext cx="571500" cy="464790"/>
          </a:xfrm>
          <a:prstGeom prst="rect">
            <a:avLst/>
          </a:prstGeom>
          <a:noFill/>
          <a:ln>
            <a:noFill/>
          </a:ln>
        </p:spPr>
      </p:pic>
      <p:pic>
        <p:nvPicPr>
          <p:cNvPr descr="image.png" id="227" name="Google Shape;227;p19"/>
          <p:cNvPicPr preferRelativeResize="0"/>
          <p:nvPr/>
        </p:nvPicPr>
        <p:blipFill rotWithShape="1">
          <a:blip r:embed="rId8">
            <a:alphaModFix/>
          </a:blip>
          <a:srcRect b="0" l="0" r="0" t="0"/>
          <a:stretch/>
        </p:blipFill>
        <p:spPr>
          <a:xfrm>
            <a:off x="666750" y="4094708"/>
            <a:ext cx="571500" cy="464790"/>
          </a:xfrm>
          <a:prstGeom prst="rect">
            <a:avLst/>
          </a:prstGeom>
          <a:noFill/>
          <a:ln>
            <a:noFill/>
          </a:ln>
        </p:spPr>
      </p:pic>
      <p:pic>
        <p:nvPicPr>
          <p:cNvPr descr="image.png" id="228" name="Google Shape;228;p19"/>
          <p:cNvPicPr preferRelativeResize="0"/>
          <p:nvPr/>
        </p:nvPicPr>
        <p:blipFill rotWithShape="1">
          <a:blip r:embed="rId9">
            <a:alphaModFix/>
          </a:blip>
          <a:srcRect b="0" l="0" r="0" t="0"/>
          <a:stretch/>
        </p:blipFill>
        <p:spPr>
          <a:xfrm>
            <a:off x="666750" y="4929038"/>
            <a:ext cx="571500" cy="464790"/>
          </a:xfrm>
          <a:prstGeom prst="rect">
            <a:avLst/>
          </a:prstGeom>
          <a:noFill/>
          <a:ln>
            <a:noFill/>
          </a:ln>
        </p:spPr>
      </p:pic>
      <p:pic>
        <p:nvPicPr>
          <p:cNvPr descr="image.png" id="229" name="Google Shape;229;p19"/>
          <p:cNvPicPr preferRelativeResize="0"/>
          <p:nvPr/>
        </p:nvPicPr>
        <p:blipFill rotWithShape="1">
          <a:blip r:embed="rId10">
            <a:alphaModFix/>
          </a:blip>
          <a:srcRect b="0" l="0" r="0" t="0"/>
          <a:stretch/>
        </p:blipFill>
        <p:spPr>
          <a:xfrm>
            <a:off x="866775" y="2568922"/>
            <a:ext cx="171450" cy="171450"/>
          </a:xfrm>
          <a:prstGeom prst="rect">
            <a:avLst/>
          </a:prstGeom>
          <a:noFill/>
          <a:ln>
            <a:noFill/>
          </a:ln>
        </p:spPr>
      </p:pic>
      <p:sp>
        <p:nvSpPr>
          <p:cNvPr id="230" name="Google Shape;230;p19"/>
          <p:cNvSpPr txBox="1"/>
          <p:nvPr/>
        </p:nvSpPr>
        <p:spPr>
          <a:xfrm>
            <a:off x="1428750" y="2422325"/>
            <a:ext cx="22098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Roboto"/>
                <a:ea typeface="Roboto"/>
                <a:cs typeface="Roboto"/>
                <a:sym typeface="Roboto"/>
              </a:rPr>
              <a:t>Acquisition (IoT)</a:t>
            </a:r>
            <a:endParaRPr/>
          </a:p>
        </p:txBody>
      </p:sp>
      <p:sp>
        <p:nvSpPr>
          <p:cNvPr id="231" name="Google Shape;231;p19"/>
          <p:cNvSpPr txBox="1"/>
          <p:nvPr/>
        </p:nvSpPr>
        <p:spPr>
          <a:xfrm>
            <a:off x="1428750" y="2689026"/>
            <a:ext cx="33147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Roboto"/>
                <a:ea typeface="Roboto"/>
                <a:cs typeface="Roboto"/>
                <a:sym typeface="Roboto"/>
              </a:rPr>
              <a:t>Caméras Intelligentes Hikvision DS-K1T343EFWX</a:t>
            </a:r>
            <a:endParaRPr/>
          </a:p>
        </p:txBody>
      </p:sp>
      <p:pic>
        <p:nvPicPr>
          <p:cNvPr descr="image.png" id="232" name="Google Shape;232;p19"/>
          <p:cNvPicPr preferRelativeResize="0"/>
          <p:nvPr/>
        </p:nvPicPr>
        <p:blipFill rotWithShape="1">
          <a:blip r:embed="rId11">
            <a:alphaModFix/>
          </a:blip>
          <a:srcRect b="0" l="0" r="0" t="0"/>
          <a:stretch/>
        </p:blipFill>
        <p:spPr>
          <a:xfrm>
            <a:off x="876300" y="3403252"/>
            <a:ext cx="152400" cy="171450"/>
          </a:xfrm>
          <a:prstGeom prst="rect">
            <a:avLst/>
          </a:prstGeom>
          <a:noFill/>
          <a:ln>
            <a:noFill/>
          </a:ln>
        </p:spPr>
      </p:pic>
      <p:sp>
        <p:nvSpPr>
          <p:cNvPr id="233" name="Google Shape;233;p19"/>
          <p:cNvSpPr txBox="1"/>
          <p:nvPr/>
        </p:nvSpPr>
        <p:spPr>
          <a:xfrm>
            <a:off x="1428750" y="3256650"/>
            <a:ext cx="1400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Roboto"/>
                <a:ea typeface="Roboto"/>
                <a:cs typeface="Roboto"/>
                <a:sym typeface="Roboto"/>
              </a:rPr>
              <a:t>Backend</a:t>
            </a:r>
            <a:endParaRPr/>
          </a:p>
        </p:txBody>
      </p:sp>
      <p:sp>
        <p:nvSpPr>
          <p:cNvPr id="234" name="Google Shape;234;p19"/>
          <p:cNvSpPr txBox="1"/>
          <p:nvPr/>
        </p:nvSpPr>
        <p:spPr>
          <a:xfrm>
            <a:off x="1428750" y="3523357"/>
            <a:ext cx="30861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Roboto"/>
                <a:ea typeface="Roboto"/>
                <a:cs typeface="Roboto"/>
                <a:sym typeface="Roboto"/>
              </a:rPr>
              <a:t>FastAPI (Python) pour une haute performance</a:t>
            </a:r>
            <a:endParaRPr/>
          </a:p>
        </p:txBody>
      </p:sp>
      <p:pic>
        <p:nvPicPr>
          <p:cNvPr descr="image.png" id="235" name="Google Shape;235;p19"/>
          <p:cNvPicPr preferRelativeResize="0"/>
          <p:nvPr/>
        </p:nvPicPr>
        <p:blipFill rotWithShape="1">
          <a:blip r:embed="rId12">
            <a:alphaModFix/>
          </a:blip>
          <a:srcRect b="0" l="0" r="0" t="0"/>
          <a:stretch/>
        </p:blipFill>
        <p:spPr>
          <a:xfrm>
            <a:off x="876300" y="4237583"/>
            <a:ext cx="152400" cy="171450"/>
          </a:xfrm>
          <a:prstGeom prst="rect">
            <a:avLst/>
          </a:prstGeom>
          <a:noFill/>
          <a:ln>
            <a:noFill/>
          </a:ln>
        </p:spPr>
      </p:pic>
      <p:sp>
        <p:nvSpPr>
          <p:cNvPr id="236" name="Google Shape;236;p19"/>
          <p:cNvSpPr txBox="1"/>
          <p:nvPr/>
        </p:nvSpPr>
        <p:spPr>
          <a:xfrm>
            <a:off x="1428750" y="4090975"/>
            <a:ext cx="1400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Roboto"/>
                <a:ea typeface="Roboto"/>
                <a:cs typeface="Roboto"/>
                <a:sym typeface="Roboto"/>
              </a:rPr>
              <a:t>Données</a:t>
            </a:r>
            <a:endParaRPr/>
          </a:p>
        </p:txBody>
      </p:sp>
      <p:sp>
        <p:nvSpPr>
          <p:cNvPr id="237" name="Google Shape;237;p19"/>
          <p:cNvSpPr txBox="1"/>
          <p:nvPr/>
        </p:nvSpPr>
        <p:spPr>
          <a:xfrm>
            <a:off x="1428750" y="4357687"/>
            <a:ext cx="34956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Roboto"/>
                <a:ea typeface="Roboto"/>
                <a:cs typeface="Roboto"/>
                <a:sym typeface="Roboto"/>
              </a:rPr>
              <a:t>MongoDB (Base de données) &amp; Cloudinary (Images)</a:t>
            </a:r>
            <a:endParaRPr/>
          </a:p>
        </p:txBody>
      </p:sp>
      <p:pic>
        <p:nvPicPr>
          <p:cNvPr descr="image.png" id="238" name="Google Shape;238;p19"/>
          <p:cNvPicPr preferRelativeResize="0"/>
          <p:nvPr/>
        </p:nvPicPr>
        <p:blipFill rotWithShape="1">
          <a:blip r:embed="rId13">
            <a:alphaModFix/>
          </a:blip>
          <a:srcRect b="0" l="0" r="0" t="0"/>
          <a:stretch/>
        </p:blipFill>
        <p:spPr>
          <a:xfrm>
            <a:off x="885825" y="5071913"/>
            <a:ext cx="133350" cy="171450"/>
          </a:xfrm>
          <a:prstGeom prst="rect">
            <a:avLst/>
          </a:prstGeom>
          <a:noFill/>
          <a:ln>
            <a:noFill/>
          </a:ln>
        </p:spPr>
      </p:pic>
      <p:sp>
        <p:nvSpPr>
          <p:cNvPr id="239" name="Google Shape;239;p19"/>
          <p:cNvSpPr txBox="1"/>
          <p:nvPr/>
        </p:nvSpPr>
        <p:spPr>
          <a:xfrm>
            <a:off x="1428750" y="4925325"/>
            <a:ext cx="11946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Roboto"/>
                <a:ea typeface="Roboto"/>
                <a:cs typeface="Roboto"/>
                <a:sym typeface="Roboto"/>
              </a:rPr>
              <a:t>Frontend</a:t>
            </a:r>
            <a:endParaRPr/>
          </a:p>
        </p:txBody>
      </p:sp>
      <p:sp>
        <p:nvSpPr>
          <p:cNvPr id="240" name="Google Shape;240;p19"/>
          <p:cNvSpPr txBox="1"/>
          <p:nvPr/>
        </p:nvSpPr>
        <p:spPr>
          <a:xfrm>
            <a:off x="1428750" y="5192017"/>
            <a:ext cx="26860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Roboto"/>
                <a:ea typeface="Roboto"/>
                <a:cs typeface="Roboto"/>
                <a:sym typeface="Roboto"/>
              </a:rPr>
              <a:t>HTML5 / CSS3 / Bootstrap / JavaScript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image.png" id="245" name="Google Shape;245;p20"/>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246" name="Google Shape;246;p20"/>
          <p:cNvPicPr preferRelativeResize="0"/>
          <p:nvPr/>
        </p:nvPicPr>
        <p:blipFill rotWithShape="1">
          <a:blip r:embed="rId4">
            <a:alphaModFix/>
          </a:blip>
          <a:srcRect b="0" l="0" r="0" t="0"/>
          <a:stretch/>
        </p:blipFill>
        <p:spPr>
          <a:xfrm>
            <a:off x="1405830" y="2553229"/>
            <a:ext cx="476250" cy="476250"/>
          </a:xfrm>
          <a:prstGeom prst="rect">
            <a:avLst/>
          </a:prstGeom>
          <a:noFill/>
          <a:ln>
            <a:noFill/>
          </a:ln>
        </p:spPr>
      </p:pic>
      <p:pic>
        <p:nvPicPr>
          <p:cNvPr descr="image.png" id="247" name="Google Shape;247;p20"/>
          <p:cNvPicPr preferRelativeResize="0"/>
          <p:nvPr/>
        </p:nvPicPr>
        <p:blipFill rotWithShape="1">
          <a:blip r:embed="rId5">
            <a:alphaModFix/>
          </a:blip>
          <a:srcRect b="0" l="0" r="0" t="0"/>
          <a:stretch/>
        </p:blipFill>
        <p:spPr>
          <a:xfrm>
            <a:off x="666750" y="3410479"/>
            <a:ext cx="1954410" cy="742950"/>
          </a:xfrm>
          <a:prstGeom prst="rect">
            <a:avLst/>
          </a:prstGeom>
          <a:noFill/>
          <a:ln cap="flat" cmpd="sng" w="9525">
            <a:solidFill>
              <a:srgbClr val="D9D9D9"/>
            </a:solidFill>
            <a:prstDash val="solid"/>
            <a:round/>
            <a:headEnd len="sm" w="sm" type="none"/>
            <a:tailEnd len="sm" w="sm" type="none"/>
          </a:ln>
        </p:spPr>
      </p:pic>
      <p:pic>
        <p:nvPicPr>
          <p:cNvPr descr="image.png" id="248" name="Google Shape;248;p20"/>
          <p:cNvPicPr preferRelativeResize="0"/>
          <p:nvPr/>
        </p:nvPicPr>
        <p:blipFill rotWithShape="1">
          <a:blip r:embed="rId6">
            <a:alphaModFix/>
          </a:blip>
          <a:srcRect b="0" l="0" r="0" t="0"/>
          <a:stretch/>
        </p:blipFill>
        <p:spPr>
          <a:xfrm>
            <a:off x="3631852" y="2553229"/>
            <a:ext cx="476250" cy="476250"/>
          </a:xfrm>
          <a:prstGeom prst="rect">
            <a:avLst/>
          </a:prstGeom>
          <a:noFill/>
          <a:ln>
            <a:noFill/>
          </a:ln>
        </p:spPr>
      </p:pic>
      <p:pic>
        <p:nvPicPr>
          <p:cNvPr descr="image.png" id="249" name="Google Shape;249;p20"/>
          <p:cNvPicPr preferRelativeResize="0"/>
          <p:nvPr/>
        </p:nvPicPr>
        <p:blipFill rotWithShape="1">
          <a:blip r:embed="rId7">
            <a:alphaModFix/>
          </a:blip>
          <a:srcRect b="0" l="0" r="0" t="0"/>
          <a:stretch/>
        </p:blipFill>
        <p:spPr>
          <a:xfrm>
            <a:off x="2892772" y="3410479"/>
            <a:ext cx="1954410" cy="742950"/>
          </a:xfrm>
          <a:prstGeom prst="rect">
            <a:avLst/>
          </a:prstGeom>
          <a:noFill/>
          <a:ln cap="flat" cmpd="sng" w="9525">
            <a:solidFill>
              <a:srgbClr val="D9D9D9"/>
            </a:solidFill>
            <a:prstDash val="solid"/>
            <a:round/>
            <a:headEnd len="sm" w="sm" type="none"/>
            <a:tailEnd len="sm" w="sm" type="none"/>
          </a:ln>
        </p:spPr>
      </p:pic>
      <p:pic>
        <p:nvPicPr>
          <p:cNvPr descr="image.png" id="250" name="Google Shape;250;p20"/>
          <p:cNvPicPr preferRelativeResize="0"/>
          <p:nvPr/>
        </p:nvPicPr>
        <p:blipFill rotWithShape="1">
          <a:blip r:embed="rId8">
            <a:alphaModFix/>
          </a:blip>
          <a:srcRect b="0" l="0" r="0" t="0"/>
          <a:stretch/>
        </p:blipFill>
        <p:spPr>
          <a:xfrm>
            <a:off x="5857875" y="2553229"/>
            <a:ext cx="476250" cy="476250"/>
          </a:xfrm>
          <a:prstGeom prst="rect">
            <a:avLst/>
          </a:prstGeom>
          <a:noFill/>
          <a:ln>
            <a:noFill/>
          </a:ln>
        </p:spPr>
      </p:pic>
      <p:pic>
        <p:nvPicPr>
          <p:cNvPr descr="image.png" id="251" name="Google Shape;251;p20"/>
          <p:cNvPicPr preferRelativeResize="0"/>
          <p:nvPr/>
        </p:nvPicPr>
        <p:blipFill rotWithShape="1">
          <a:blip r:embed="rId9">
            <a:alphaModFix/>
          </a:blip>
          <a:srcRect b="0" l="0" r="0" t="0"/>
          <a:stretch/>
        </p:blipFill>
        <p:spPr>
          <a:xfrm>
            <a:off x="5118794" y="3410479"/>
            <a:ext cx="1954410" cy="742950"/>
          </a:xfrm>
          <a:prstGeom prst="rect">
            <a:avLst/>
          </a:prstGeom>
          <a:noFill/>
          <a:ln cap="flat" cmpd="sng" w="9525">
            <a:solidFill>
              <a:srgbClr val="D9D9D9"/>
            </a:solidFill>
            <a:prstDash val="solid"/>
            <a:round/>
            <a:headEnd len="sm" w="sm" type="none"/>
            <a:tailEnd len="sm" w="sm" type="none"/>
          </a:ln>
        </p:spPr>
      </p:pic>
      <p:pic>
        <p:nvPicPr>
          <p:cNvPr descr="image.png" id="252" name="Google Shape;252;p20"/>
          <p:cNvPicPr preferRelativeResize="0"/>
          <p:nvPr/>
        </p:nvPicPr>
        <p:blipFill rotWithShape="1">
          <a:blip r:embed="rId10">
            <a:alphaModFix/>
          </a:blip>
          <a:srcRect b="0" l="0" r="0" t="0"/>
          <a:stretch/>
        </p:blipFill>
        <p:spPr>
          <a:xfrm>
            <a:off x="8083897" y="2553229"/>
            <a:ext cx="476250" cy="476250"/>
          </a:xfrm>
          <a:prstGeom prst="rect">
            <a:avLst/>
          </a:prstGeom>
          <a:noFill/>
          <a:ln>
            <a:noFill/>
          </a:ln>
        </p:spPr>
      </p:pic>
      <p:pic>
        <p:nvPicPr>
          <p:cNvPr descr="image.png" id="253" name="Google Shape;253;p20"/>
          <p:cNvPicPr preferRelativeResize="0"/>
          <p:nvPr/>
        </p:nvPicPr>
        <p:blipFill rotWithShape="1">
          <a:blip r:embed="rId11">
            <a:alphaModFix/>
          </a:blip>
          <a:srcRect b="0" l="0" r="0" t="0"/>
          <a:stretch/>
        </p:blipFill>
        <p:spPr>
          <a:xfrm>
            <a:off x="7344816" y="3410479"/>
            <a:ext cx="1954410" cy="742950"/>
          </a:xfrm>
          <a:prstGeom prst="rect">
            <a:avLst/>
          </a:prstGeom>
          <a:noFill/>
          <a:ln cap="flat" cmpd="sng" w="9525">
            <a:solidFill>
              <a:srgbClr val="D9D9D9"/>
            </a:solidFill>
            <a:prstDash val="solid"/>
            <a:round/>
            <a:headEnd len="sm" w="sm" type="none"/>
            <a:tailEnd len="sm" w="sm" type="none"/>
          </a:ln>
        </p:spPr>
      </p:pic>
      <p:pic>
        <p:nvPicPr>
          <p:cNvPr descr="image.png" id="254" name="Google Shape;254;p20"/>
          <p:cNvPicPr preferRelativeResize="0"/>
          <p:nvPr/>
        </p:nvPicPr>
        <p:blipFill rotWithShape="1">
          <a:blip r:embed="rId12">
            <a:alphaModFix/>
          </a:blip>
          <a:srcRect b="0" l="0" r="0" t="0"/>
          <a:stretch/>
        </p:blipFill>
        <p:spPr>
          <a:xfrm>
            <a:off x="10309919" y="2553229"/>
            <a:ext cx="476250" cy="476250"/>
          </a:xfrm>
          <a:prstGeom prst="rect">
            <a:avLst/>
          </a:prstGeom>
          <a:noFill/>
          <a:ln>
            <a:noFill/>
          </a:ln>
        </p:spPr>
      </p:pic>
      <p:pic>
        <p:nvPicPr>
          <p:cNvPr descr="image.png" id="255" name="Google Shape;255;p20"/>
          <p:cNvPicPr preferRelativeResize="0"/>
          <p:nvPr/>
        </p:nvPicPr>
        <p:blipFill rotWithShape="1">
          <a:blip r:embed="rId13">
            <a:alphaModFix/>
          </a:blip>
          <a:srcRect b="0" l="0" r="0" t="0"/>
          <a:stretch/>
        </p:blipFill>
        <p:spPr>
          <a:xfrm>
            <a:off x="9570839" y="3410479"/>
            <a:ext cx="1954410" cy="742950"/>
          </a:xfrm>
          <a:prstGeom prst="rect">
            <a:avLst/>
          </a:prstGeom>
          <a:noFill/>
          <a:ln cap="flat" cmpd="sng" w="9525">
            <a:solidFill>
              <a:srgbClr val="D9D9D9"/>
            </a:solidFill>
            <a:prstDash val="solid"/>
            <a:round/>
            <a:headEnd len="sm" w="sm" type="none"/>
            <a:tailEnd len="sm" w="sm" type="none"/>
          </a:ln>
        </p:spPr>
      </p:pic>
      <p:sp>
        <p:nvSpPr>
          <p:cNvPr id="256" name="Google Shape;256;p20"/>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0"/>
          <p:cNvSpPr txBox="1"/>
          <p:nvPr/>
        </p:nvSpPr>
        <p:spPr>
          <a:xfrm>
            <a:off x="666750" y="533400"/>
            <a:ext cx="11401425"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1E3A8A"/>
                </a:solidFill>
                <a:latin typeface="Montserrat SemiBold"/>
                <a:ea typeface="Montserrat SemiBold"/>
                <a:cs typeface="Montserrat SemiBold"/>
                <a:sym typeface="Montserrat SemiBold"/>
              </a:rPr>
              <a:t>Fonctionnement du Système</a:t>
            </a:r>
            <a:endParaRPr/>
          </a:p>
        </p:txBody>
      </p:sp>
      <p:sp>
        <p:nvSpPr>
          <p:cNvPr id="258" name="Google Shape;258;p20"/>
          <p:cNvSpPr/>
          <p:nvPr/>
        </p:nvSpPr>
        <p:spPr>
          <a:xfrm>
            <a:off x="5715000" y="833437"/>
            <a:ext cx="7620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0"/>
          <p:cNvSpPr txBox="1"/>
          <p:nvPr/>
        </p:nvSpPr>
        <p:spPr>
          <a:xfrm>
            <a:off x="666750" y="6515100"/>
            <a:ext cx="9715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Fonctionnement</a:t>
            </a:r>
            <a:endParaRPr/>
          </a:p>
        </p:txBody>
      </p:sp>
      <p:sp>
        <p:nvSpPr>
          <p:cNvPr id="260" name="Google Shape;260;p20"/>
          <p:cNvSpPr txBox="1"/>
          <p:nvPr/>
        </p:nvSpPr>
        <p:spPr>
          <a:xfrm>
            <a:off x="11115675" y="6515100"/>
            <a:ext cx="11457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7 </a:t>
            </a:r>
            <a:endParaRPr sz="1050">
              <a:solidFill>
                <a:srgbClr val="94A3B8"/>
              </a:solidFill>
              <a:latin typeface="Roboto"/>
              <a:ea typeface="Roboto"/>
              <a:cs typeface="Roboto"/>
              <a:sym typeface="Roboto"/>
            </a:endParaRPr>
          </a:p>
        </p:txBody>
      </p:sp>
      <p:sp>
        <p:nvSpPr>
          <p:cNvPr id="261" name="Google Shape;261;p20"/>
          <p:cNvSpPr/>
          <p:nvPr/>
        </p:nvSpPr>
        <p:spPr>
          <a:xfrm>
            <a:off x="1209675" y="3174470"/>
            <a:ext cx="9772800" cy="19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rgbClr val="94A3B8"/>
              </a:solidFill>
              <a:latin typeface="Calibri"/>
              <a:ea typeface="Calibri"/>
              <a:cs typeface="Calibri"/>
              <a:sym typeface="Calibri"/>
            </a:endParaRPr>
          </a:p>
        </p:txBody>
      </p:sp>
      <p:pic>
        <p:nvPicPr>
          <p:cNvPr id="262" name="Google Shape;262;p20" title="rrrtttt.png"/>
          <p:cNvPicPr preferRelativeResize="0"/>
          <p:nvPr/>
        </p:nvPicPr>
        <p:blipFill>
          <a:blip r:embed="rId14">
            <a:alphaModFix/>
          </a:blip>
          <a:stretch>
            <a:fillRect/>
          </a:stretch>
        </p:blipFill>
        <p:spPr>
          <a:xfrm>
            <a:off x="4108100" y="4733400"/>
            <a:ext cx="3854775" cy="129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image.png" id="267" name="Google Shape;267;p21"/>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sp>
        <p:nvSpPr>
          <p:cNvPr id="268" name="Google Shape;268;p21"/>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1"/>
          <p:cNvSpPr txBox="1"/>
          <p:nvPr/>
        </p:nvSpPr>
        <p:spPr>
          <a:xfrm>
            <a:off x="666750" y="533400"/>
            <a:ext cx="11401425"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1E3A8A"/>
                </a:solidFill>
                <a:latin typeface="Montserrat SemiBold"/>
                <a:ea typeface="Montserrat SemiBold"/>
                <a:cs typeface="Montserrat SemiBold"/>
                <a:sym typeface="Montserrat SemiBold"/>
              </a:rPr>
              <a:t>Résultats des Tests</a:t>
            </a:r>
            <a:endParaRPr/>
          </a:p>
        </p:txBody>
      </p:sp>
      <p:sp>
        <p:nvSpPr>
          <p:cNvPr id="270" name="Google Shape;270;p21"/>
          <p:cNvSpPr/>
          <p:nvPr/>
        </p:nvSpPr>
        <p:spPr>
          <a:xfrm>
            <a:off x="5715000" y="833437"/>
            <a:ext cx="7620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1"/>
          <p:cNvSpPr txBox="1"/>
          <p:nvPr/>
        </p:nvSpPr>
        <p:spPr>
          <a:xfrm>
            <a:off x="666750" y="6515100"/>
            <a:ext cx="5619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Résultats</a:t>
            </a:r>
            <a:endParaRPr/>
          </a:p>
        </p:txBody>
      </p:sp>
      <p:sp>
        <p:nvSpPr>
          <p:cNvPr id="272" name="Google Shape;272;p21"/>
          <p:cNvSpPr txBox="1"/>
          <p:nvPr/>
        </p:nvSpPr>
        <p:spPr>
          <a:xfrm>
            <a:off x="11115675" y="6515100"/>
            <a:ext cx="762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a:t>
            </a:r>
            <a:r>
              <a:rPr lang="en-US" sz="1050">
                <a:solidFill>
                  <a:srgbClr val="94A3B8"/>
                </a:solidFill>
                <a:latin typeface="Roboto"/>
                <a:ea typeface="Roboto"/>
                <a:cs typeface="Roboto"/>
                <a:sym typeface="Roboto"/>
              </a:rPr>
              <a:t>8</a:t>
            </a:r>
            <a:endParaRPr/>
          </a:p>
        </p:txBody>
      </p:sp>
      <p:pic>
        <p:nvPicPr>
          <p:cNvPr descr="image.png" id="273" name="Google Shape;273;p21"/>
          <p:cNvPicPr preferRelativeResize="0"/>
          <p:nvPr/>
        </p:nvPicPr>
        <p:blipFill rotWithShape="1">
          <a:blip r:embed="rId4">
            <a:alphaModFix/>
          </a:blip>
          <a:srcRect b="0" l="0" r="0" t="0"/>
          <a:stretch/>
        </p:blipFill>
        <p:spPr>
          <a:xfrm>
            <a:off x="641879" y="5890665"/>
            <a:ext cx="228600" cy="228600"/>
          </a:xfrm>
          <a:prstGeom prst="rect">
            <a:avLst/>
          </a:prstGeom>
          <a:noFill/>
          <a:ln>
            <a:noFill/>
          </a:ln>
        </p:spPr>
      </p:pic>
      <p:sp>
        <p:nvSpPr>
          <p:cNvPr id="274" name="Google Shape;274;p21"/>
          <p:cNvSpPr txBox="1"/>
          <p:nvPr/>
        </p:nvSpPr>
        <p:spPr>
          <a:xfrm>
            <a:off x="965729" y="5914477"/>
            <a:ext cx="1419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334155"/>
                </a:solidFill>
                <a:latin typeface="Roboto SemiBold"/>
                <a:ea typeface="Roboto SemiBold"/>
                <a:cs typeface="Roboto SemiBold"/>
                <a:sym typeface="Roboto SemiBold"/>
              </a:rPr>
              <a:t>Traçabilité Complète</a:t>
            </a:r>
            <a:endParaRPr/>
          </a:p>
        </p:txBody>
      </p:sp>
      <p:pic>
        <p:nvPicPr>
          <p:cNvPr descr="image.png" id="275" name="Google Shape;275;p21"/>
          <p:cNvPicPr preferRelativeResize="0"/>
          <p:nvPr/>
        </p:nvPicPr>
        <p:blipFill rotWithShape="1">
          <a:blip r:embed="rId5">
            <a:alphaModFix/>
          </a:blip>
          <a:srcRect b="0" l="0" r="0" t="0"/>
          <a:stretch/>
        </p:blipFill>
        <p:spPr>
          <a:xfrm>
            <a:off x="2765954" y="5890665"/>
            <a:ext cx="257175" cy="228600"/>
          </a:xfrm>
          <a:prstGeom prst="rect">
            <a:avLst/>
          </a:prstGeom>
          <a:noFill/>
          <a:ln>
            <a:noFill/>
          </a:ln>
        </p:spPr>
      </p:pic>
      <p:sp>
        <p:nvSpPr>
          <p:cNvPr id="276" name="Google Shape;276;p21"/>
          <p:cNvSpPr txBox="1"/>
          <p:nvPr/>
        </p:nvSpPr>
        <p:spPr>
          <a:xfrm>
            <a:off x="3118367" y="5914475"/>
            <a:ext cx="1837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334155"/>
                </a:solidFill>
                <a:latin typeface="Roboto SemiBold"/>
                <a:ea typeface="Roboto SemiBold"/>
                <a:cs typeface="Roboto SemiBold"/>
                <a:sym typeface="Roboto SemiBold"/>
              </a:rPr>
              <a:t>Export CSV</a:t>
            </a:r>
            <a:endParaRPr/>
          </a:p>
        </p:txBody>
      </p:sp>
      <p:pic>
        <p:nvPicPr>
          <p:cNvPr descr="image.png" id="277" name="Google Shape;277;p21"/>
          <p:cNvPicPr preferRelativeResize="0"/>
          <p:nvPr/>
        </p:nvPicPr>
        <p:blipFill rotWithShape="1">
          <a:blip r:embed="rId6">
            <a:alphaModFix/>
          </a:blip>
          <a:srcRect b="0" l="0" r="0" t="0"/>
          <a:stretch/>
        </p:blipFill>
        <p:spPr>
          <a:xfrm>
            <a:off x="666750" y="2022049"/>
            <a:ext cx="4898528" cy="1447800"/>
          </a:xfrm>
          <a:prstGeom prst="rect">
            <a:avLst/>
          </a:prstGeom>
          <a:noFill/>
          <a:ln>
            <a:noFill/>
          </a:ln>
        </p:spPr>
      </p:pic>
      <p:pic>
        <p:nvPicPr>
          <p:cNvPr descr="image.png" id="278" name="Google Shape;278;p21"/>
          <p:cNvPicPr preferRelativeResize="0"/>
          <p:nvPr/>
        </p:nvPicPr>
        <p:blipFill rotWithShape="1">
          <a:blip r:embed="rId7">
            <a:alphaModFix/>
          </a:blip>
          <a:srcRect b="0" l="0" r="0" t="0"/>
          <a:stretch/>
        </p:blipFill>
        <p:spPr>
          <a:xfrm>
            <a:off x="666750" y="3707975"/>
            <a:ext cx="4898528" cy="1447800"/>
          </a:xfrm>
          <a:prstGeom prst="rect">
            <a:avLst/>
          </a:prstGeom>
          <a:noFill/>
          <a:ln>
            <a:noFill/>
          </a:ln>
        </p:spPr>
      </p:pic>
      <p:pic>
        <p:nvPicPr>
          <p:cNvPr descr="image.png" id="279" name="Google Shape;279;p21"/>
          <p:cNvPicPr preferRelativeResize="0"/>
          <p:nvPr/>
        </p:nvPicPr>
        <p:blipFill rotWithShape="1">
          <a:blip r:embed="rId8">
            <a:alphaModFix/>
          </a:blip>
          <a:srcRect b="0" l="0" r="0" t="0"/>
          <a:stretch/>
        </p:blipFill>
        <p:spPr>
          <a:xfrm>
            <a:off x="6136778" y="1112413"/>
            <a:ext cx="5388471" cy="4895850"/>
          </a:xfrm>
          <a:prstGeom prst="rect">
            <a:avLst/>
          </a:prstGeom>
          <a:noFill/>
          <a:ln>
            <a:noFill/>
          </a:ln>
        </p:spPr>
      </p:pic>
      <p:pic>
        <p:nvPicPr>
          <p:cNvPr descr="image.png" id="280" name="Google Shape;280;p21"/>
          <p:cNvPicPr preferRelativeResize="0"/>
          <p:nvPr/>
        </p:nvPicPr>
        <p:blipFill rotWithShape="1">
          <a:blip r:embed="rId9">
            <a:alphaModFix/>
          </a:blip>
          <a:srcRect b="0" l="0" r="0" t="0"/>
          <a:stretch/>
        </p:blipFill>
        <p:spPr>
          <a:xfrm>
            <a:off x="9534525" y="988588"/>
            <a:ext cx="1685925" cy="304800"/>
          </a:xfrm>
          <a:prstGeom prst="rect">
            <a:avLst/>
          </a:prstGeom>
          <a:noFill/>
          <a:ln>
            <a:noFill/>
          </a:ln>
        </p:spPr>
      </p:pic>
      <p:pic>
        <p:nvPicPr>
          <p:cNvPr descr="image.png" id="281" name="Google Shape;281;p21"/>
          <p:cNvPicPr preferRelativeResize="0"/>
          <p:nvPr/>
        </p:nvPicPr>
        <p:blipFill rotWithShape="1">
          <a:blip r:embed="rId10">
            <a:alphaModFix/>
          </a:blip>
          <a:srcRect b="0" l="0" r="0" t="0"/>
          <a:stretch/>
        </p:blipFill>
        <p:spPr>
          <a:xfrm>
            <a:off x="6489203" y="4950988"/>
            <a:ext cx="4683621" cy="704850"/>
          </a:xfrm>
          <a:prstGeom prst="rect">
            <a:avLst/>
          </a:prstGeom>
          <a:noFill/>
          <a:ln>
            <a:noFill/>
          </a:ln>
        </p:spPr>
      </p:pic>
      <p:sp>
        <p:nvSpPr>
          <p:cNvPr id="282" name="Google Shape;282;p21"/>
          <p:cNvSpPr txBox="1"/>
          <p:nvPr/>
        </p:nvSpPr>
        <p:spPr>
          <a:xfrm>
            <a:off x="666750" y="1545800"/>
            <a:ext cx="5143500" cy="254100"/>
          </a:xfrm>
          <a:prstGeom prst="rect">
            <a:avLst/>
          </a:prstGeom>
          <a:noFill/>
          <a:ln>
            <a:noFill/>
          </a:ln>
        </p:spPr>
        <p:txBody>
          <a:bodyPr anchorCtr="0" anchor="t" bIns="0" lIns="276225" spcFirstLastPara="1" rIns="0" wrap="square" tIns="0">
            <a:spAutoFit/>
          </a:bodyPr>
          <a:lstStyle/>
          <a:p>
            <a:pPr indent="0" lvl="0" marL="0" marR="0" rtl="0" algn="l">
              <a:spcBef>
                <a:spcPts val="0"/>
              </a:spcBef>
              <a:spcAft>
                <a:spcPts val="0"/>
              </a:spcAft>
              <a:buNone/>
            </a:pPr>
            <a:r>
              <a:rPr b="1" i="0" lang="en-US" sz="1650" u="none" cap="none" strike="noStrike">
                <a:solidFill>
                  <a:srgbClr val="1E3A8A"/>
                </a:solidFill>
                <a:latin typeface="Roboto"/>
                <a:ea typeface="Roboto"/>
                <a:cs typeface="Roboto"/>
                <a:sym typeface="Roboto"/>
              </a:rPr>
              <a:t>Performance Technique</a:t>
            </a:r>
            <a:endParaRPr/>
          </a:p>
        </p:txBody>
      </p:sp>
      <p:pic>
        <p:nvPicPr>
          <p:cNvPr descr="image.png" id="283" name="Google Shape;283;p21"/>
          <p:cNvPicPr preferRelativeResize="0"/>
          <p:nvPr/>
        </p:nvPicPr>
        <p:blipFill rotWithShape="1">
          <a:blip r:embed="rId11">
            <a:alphaModFix/>
          </a:blip>
          <a:srcRect b="0" l="0" r="0" t="0"/>
          <a:stretch/>
        </p:blipFill>
        <p:spPr>
          <a:xfrm>
            <a:off x="666750" y="1555325"/>
            <a:ext cx="180975" cy="209550"/>
          </a:xfrm>
          <a:prstGeom prst="rect">
            <a:avLst/>
          </a:prstGeom>
          <a:noFill/>
          <a:ln>
            <a:noFill/>
          </a:ln>
        </p:spPr>
      </p:pic>
      <p:sp>
        <p:nvSpPr>
          <p:cNvPr id="284" name="Google Shape;284;p21"/>
          <p:cNvSpPr txBox="1"/>
          <p:nvPr/>
        </p:nvSpPr>
        <p:spPr>
          <a:xfrm>
            <a:off x="1162050" y="2269700"/>
            <a:ext cx="4155600" cy="2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Roboto Medium"/>
                <a:ea typeface="Roboto Medium"/>
                <a:cs typeface="Roboto Medium"/>
                <a:sym typeface="Roboto Medium"/>
              </a:rPr>
              <a:t>Temps de Reconnaissance</a:t>
            </a:r>
            <a:endParaRPr/>
          </a:p>
        </p:txBody>
      </p:sp>
      <p:sp>
        <p:nvSpPr>
          <p:cNvPr id="285" name="Google Shape;285;p21"/>
          <p:cNvSpPr txBox="1"/>
          <p:nvPr/>
        </p:nvSpPr>
        <p:spPr>
          <a:xfrm>
            <a:off x="914400" y="2564975"/>
            <a:ext cx="4403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600" u="none" cap="none" strike="noStrike">
                <a:solidFill>
                  <a:srgbClr val="0284C7"/>
                </a:solidFill>
                <a:latin typeface="Montserrat"/>
                <a:ea typeface="Montserrat"/>
                <a:cs typeface="Montserrat"/>
                <a:sym typeface="Montserrat"/>
              </a:rPr>
              <a:t>&lt; 1 seconde</a:t>
            </a:r>
            <a:endParaRPr/>
          </a:p>
        </p:txBody>
      </p:sp>
      <p:sp>
        <p:nvSpPr>
          <p:cNvPr id="286" name="Google Shape;286;p21"/>
          <p:cNvSpPr txBox="1"/>
          <p:nvPr/>
        </p:nvSpPr>
        <p:spPr>
          <a:xfrm>
            <a:off x="914400" y="3069800"/>
            <a:ext cx="4403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Roboto"/>
                <a:ea typeface="Roboto"/>
                <a:cs typeface="Roboto"/>
                <a:sym typeface="Roboto"/>
              </a:rPr>
              <a:t>Traitement quasi-instantané pour fluidifier les entrées.</a:t>
            </a:r>
            <a:endParaRPr/>
          </a:p>
        </p:txBody>
      </p:sp>
      <p:sp>
        <p:nvSpPr>
          <p:cNvPr id="287" name="Google Shape;287;p21"/>
          <p:cNvSpPr txBox="1"/>
          <p:nvPr/>
        </p:nvSpPr>
        <p:spPr>
          <a:xfrm>
            <a:off x="1181100" y="3955625"/>
            <a:ext cx="4136400" cy="2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Roboto Medium"/>
                <a:ea typeface="Roboto Medium"/>
                <a:cs typeface="Roboto Medium"/>
                <a:sym typeface="Roboto Medium"/>
              </a:rPr>
              <a:t>Taux de Précision</a:t>
            </a:r>
            <a:endParaRPr/>
          </a:p>
        </p:txBody>
      </p:sp>
      <p:sp>
        <p:nvSpPr>
          <p:cNvPr id="288" name="Google Shape;288;p21"/>
          <p:cNvSpPr txBox="1"/>
          <p:nvPr/>
        </p:nvSpPr>
        <p:spPr>
          <a:xfrm>
            <a:off x="914400" y="4250900"/>
            <a:ext cx="4403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600" u="none" cap="none" strike="noStrike">
                <a:solidFill>
                  <a:srgbClr val="0284C7"/>
                </a:solidFill>
                <a:latin typeface="Montserrat"/>
                <a:ea typeface="Montserrat"/>
                <a:cs typeface="Montserrat"/>
                <a:sym typeface="Montserrat"/>
              </a:rPr>
              <a:t>&gt; 95%</a:t>
            </a:r>
            <a:endParaRPr/>
          </a:p>
        </p:txBody>
      </p:sp>
      <p:sp>
        <p:nvSpPr>
          <p:cNvPr id="289" name="Google Shape;289;p21"/>
          <p:cNvSpPr txBox="1"/>
          <p:nvPr/>
        </p:nvSpPr>
        <p:spPr>
          <a:xfrm>
            <a:off x="914400" y="4755725"/>
            <a:ext cx="4403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Roboto"/>
                <a:ea typeface="Roboto"/>
                <a:cs typeface="Roboto"/>
                <a:sym typeface="Roboto"/>
              </a:rPr>
              <a:t>Algorithme robuste (lunettes, luminosité variable).</a:t>
            </a:r>
            <a:endParaRPr/>
          </a:p>
        </p:txBody>
      </p:sp>
      <p:sp>
        <p:nvSpPr>
          <p:cNvPr id="290" name="Google Shape;290;p21"/>
          <p:cNvSpPr txBox="1"/>
          <p:nvPr/>
        </p:nvSpPr>
        <p:spPr>
          <a:xfrm>
            <a:off x="6774953" y="1464838"/>
            <a:ext cx="4398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854D0E"/>
                </a:solidFill>
                <a:latin typeface="Montserrat"/>
                <a:ea typeface="Montserrat"/>
                <a:cs typeface="Montserrat"/>
                <a:sym typeface="Montserrat"/>
              </a:rPr>
              <a:t>La Grande Innovation</a:t>
            </a:r>
            <a:endParaRPr/>
          </a:p>
        </p:txBody>
      </p:sp>
      <p:sp>
        <p:nvSpPr>
          <p:cNvPr id="291" name="Google Shape;291;p21"/>
          <p:cNvSpPr txBox="1"/>
          <p:nvPr/>
        </p:nvSpPr>
        <p:spPr>
          <a:xfrm>
            <a:off x="6489203" y="1931563"/>
            <a:ext cx="46836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713F12"/>
                </a:solidFill>
                <a:latin typeface="Roboto Medium"/>
                <a:ea typeface="Roboto Medium"/>
                <a:cs typeface="Roboto Medium"/>
                <a:sym typeface="Roboto Medium"/>
              </a:rPr>
              <a:t>Dépassement de la limite matérielle (1500 pers.)</a:t>
            </a:r>
            <a:endParaRPr/>
          </a:p>
        </p:txBody>
      </p:sp>
      <p:sp>
        <p:nvSpPr>
          <p:cNvPr id="292" name="Google Shape;292;p21"/>
          <p:cNvSpPr txBox="1"/>
          <p:nvPr/>
        </p:nvSpPr>
        <p:spPr>
          <a:xfrm>
            <a:off x="6489203" y="2274463"/>
            <a:ext cx="4683600" cy="34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854D0E"/>
                </a:solidFill>
                <a:latin typeface="Roboto"/>
                <a:ea typeface="Roboto"/>
                <a:cs typeface="Roboto"/>
                <a:sym typeface="Roboto"/>
              </a:rPr>
              <a:t>L'application a été conçue spécifiquement pour contourner la limitation native du terminal Hikvision.</a:t>
            </a:r>
            <a:endParaRPr/>
          </a:p>
        </p:txBody>
      </p:sp>
      <p:sp>
        <p:nvSpPr>
          <p:cNvPr id="293" name="Google Shape;293;p21"/>
          <p:cNvSpPr/>
          <p:nvPr/>
        </p:nvSpPr>
        <p:spPr>
          <a:xfrm>
            <a:off x="6489203" y="2807863"/>
            <a:ext cx="4683600" cy="876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94" name="Google Shape;294;p21"/>
          <p:cNvSpPr txBox="1"/>
          <p:nvPr/>
        </p:nvSpPr>
        <p:spPr>
          <a:xfrm>
            <a:off x="6632078" y="2950738"/>
            <a:ext cx="43980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854D0E"/>
                </a:solidFill>
                <a:latin typeface="Roboto"/>
                <a:ea typeface="Roboto"/>
                <a:cs typeface="Roboto"/>
                <a:sym typeface="Roboto"/>
              </a:rPr>
              <a:t>MÉCANISME CLÉ :</a:t>
            </a:r>
            <a:r>
              <a:rPr b="0" i="0" lang="en-US" sz="1200" u="none" cap="none" strike="noStrike">
                <a:solidFill>
                  <a:srgbClr val="334155"/>
                </a:solidFill>
                <a:latin typeface="Roboto"/>
                <a:ea typeface="Roboto"/>
                <a:cs typeface="Roboto"/>
                <a:sym typeface="Roboto"/>
              </a:rPr>
              <a:t> Automatisation du Roulement de la Base de Données (Cache Dynamique).</a:t>
            </a:r>
            <a:endParaRPr/>
          </a:p>
        </p:txBody>
      </p:sp>
      <p:sp>
        <p:nvSpPr>
          <p:cNvPr id="295" name="Google Shape;295;p21"/>
          <p:cNvSpPr/>
          <p:nvPr/>
        </p:nvSpPr>
        <p:spPr>
          <a:xfrm>
            <a:off x="6489203" y="2807863"/>
            <a:ext cx="38100" cy="876300"/>
          </a:xfrm>
          <a:prstGeom prst="rect">
            <a:avLst/>
          </a:prstGeom>
          <a:solidFill>
            <a:srgbClr val="CA8A0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image.png" id="296" name="Google Shape;296;p21"/>
          <p:cNvPicPr preferRelativeResize="0"/>
          <p:nvPr/>
        </p:nvPicPr>
        <p:blipFill rotWithShape="1">
          <a:blip r:embed="rId12">
            <a:alphaModFix/>
          </a:blip>
          <a:srcRect b="0" l="0" r="0" t="0"/>
          <a:stretch/>
        </p:blipFill>
        <p:spPr>
          <a:xfrm>
            <a:off x="914400" y="2283988"/>
            <a:ext cx="152400" cy="171450"/>
          </a:xfrm>
          <a:prstGeom prst="rect">
            <a:avLst/>
          </a:prstGeom>
          <a:noFill/>
          <a:ln>
            <a:noFill/>
          </a:ln>
        </p:spPr>
      </p:pic>
      <p:pic>
        <p:nvPicPr>
          <p:cNvPr descr="image.png" id="297" name="Google Shape;297;p21"/>
          <p:cNvPicPr preferRelativeResize="0"/>
          <p:nvPr/>
        </p:nvPicPr>
        <p:blipFill rotWithShape="1">
          <a:blip r:embed="rId13">
            <a:alphaModFix/>
          </a:blip>
          <a:srcRect b="0" l="0" r="0" t="0"/>
          <a:stretch/>
        </p:blipFill>
        <p:spPr>
          <a:xfrm>
            <a:off x="914400" y="3969913"/>
            <a:ext cx="171450" cy="171450"/>
          </a:xfrm>
          <a:prstGeom prst="rect">
            <a:avLst/>
          </a:prstGeom>
          <a:noFill/>
          <a:ln>
            <a:noFill/>
          </a:ln>
        </p:spPr>
      </p:pic>
      <p:pic>
        <p:nvPicPr>
          <p:cNvPr descr="image.png" id="298" name="Google Shape;298;p21"/>
          <p:cNvPicPr preferRelativeResize="0"/>
          <p:nvPr/>
        </p:nvPicPr>
        <p:blipFill rotWithShape="1">
          <a:blip r:embed="rId14">
            <a:alphaModFix/>
          </a:blip>
          <a:srcRect b="0" l="0" r="0" t="0"/>
          <a:stretch/>
        </p:blipFill>
        <p:spPr>
          <a:xfrm>
            <a:off x="6489203" y="1488650"/>
            <a:ext cx="171450" cy="228600"/>
          </a:xfrm>
          <a:prstGeom prst="rect">
            <a:avLst/>
          </a:prstGeom>
          <a:noFill/>
          <a:ln>
            <a:noFill/>
          </a:ln>
        </p:spPr>
      </p:pic>
      <p:sp>
        <p:nvSpPr>
          <p:cNvPr id="299" name="Google Shape;299;p21"/>
          <p:cNvSpPr txBox="1"/>
          <p:nvPr/>
        </p:nvSpPr>
        <p:spPr>
          <a:xfrm>
            <a:off x="6755903" y="3874663"/>
            <a:ext cx="44169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713F12"/>
                </a:solidFill>
                <a:latin typeface="Roboto"/>
                <a:ea typeface="Roboto"/>
                <a:cs typeface="Roboto"/>
                <a:sym typeface="Roboto"/>
              </a:rPr>
              <a:t>Chargement automatique de </a:t>
            </a:r>
            <a:r>
              <a:rPr b="1" i="0" lang="en-US" sz="1200" u="none" cap="none" strike="noStrike">
                <a:solidFill>
                  <a:srgbClr val="713F12"/>
                </a:solidFill>
                <a:latin typeface="Roboto"/>
                <a:ea typeface="Roboto"/>
                <a:cs typeface="Roboto"/>
                <a:sym typeface="Roboto"/>
              </a:rPr>
              <a:t>groupes de 1500</a:t>
            </a:r>
            <a:r>
              <a:rPr lang="en-US" sz="1200">
                <a:solidFill>
                  <a:srgbClr val="713F12"/>
                </a:solidFill>
                <a:latin typeface="Roboto"/>
                <a:ea typeface="Roboto"/>
                <a:cs typeface="Roboto"/>
                <a:sym typeface="Roboto"/>
              </a:rPr>
              <a:t> personnes</a:t>
            </a:r>
            <a:r>
              <a:rPr b="0" i="0" lang="en-US" sz="1200" u="none" cap="none" strike="noStrike">
                <a:solidFill>
                  <a:srgbClr val="713F12"/>
                </a:solidFill>
                <a:latin typeface="Roboto"/>
                <a:ea typeface="Roboto"/>
                <a:cs typeface="Roboto"/>
                <a:sym typeface="Roboto"/>
              </a:rPr>
              <a:t> selon le planning.</a:t>
            </a:r>
            <a:endParaRPr/>
          </a:p>
        </p:txBody>
      </p:sp>
      <p:sp>
        <p:nvSpPr>
          <p:cNvPr id="300" name="Google Shape;300;p21"/>
          <p:cNvSpPr txBox="1"/>
          <p:nvPr/>
        </p:nvSpPr>
        <p:spPr>
          <a:xfrm>
            <a:off x="6774953" y="4350913"/>
            <a:ext cx="43980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713F12"/>
                </a:solidFill>
                <a:latin typeface="Roboto"/>
                <a:ea typeface="Roboto"/>
                <a:cs typeface="Roboto"/>
                <a:sym typeface="Roboto"/>
              </a:rPr>
              <a:t>Effacement et rechargement des données en temps réel sans intervention humaine.</a:t>
            </a:r>
            <a:endParaRPr/>
          </a:p>
        </p:txBody>
      </p:sp>
      <p:sp>
        <p:nvSpPr>
          <p:cNvPr id="301" name="Google Shape;301;p21"/>
          <p:cNvSpPr txBox="1"/>
          <p:nvPr/>
        </p:nvSpPr>
        <p:spPr>
          <a:xfrm>
            <a:off x="6489203" y="5151013"/>
            <a:ext cx="46836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854D0E"/>
                </a:solidFill>
                <a:latin typeface="Montserrat ExtraBold"/>
                <a:ea typeface="Montserrat ExtraBold"/>
                <a:cs typeface="Montserrat ExtraBold"/>
                <a:sym typeface="Montserrat ExtraBold"/>
              </a:rPr>
              <a:t>10 000+ </a:t>
            </a:r>
            <a:r>
              <a:rPr lang="en-US" sz="2100">
                <a:solidFill>
                  <a:srgbClr val="854D0E"/>
                </a:solidFill>
                <a:latin typeface="Montserrat ExtraBold"/>
                <a:ea typeface="Montserrat ExtraBold"/>
                <a:cs typeface="Montserrat ExtraBold"/>
                <a:sym typeface="Montserrat ExtraBold"/>
              </a:rPr>
              <a:t>personne</a:t>
            </a:r>
            <a:r>
              <a:rPr b="0" i="0" lang="en-US" sz="2100" u="none" cap="none" strike="noStrike">
                <a:solidFill>
                  <a:srgbClr val="854D0E"/>
                </a:solidFill>
                <a:latin typeface="Montserrat ExtraBold"/>
                <a:ea typeface="Montserrat ExtraBold"/>
                <a:cs typeface="Montserrat ExtraBold"/>
                <a:sym typeface="Montserrat ExtraBold"/>
              </a:rPr>
              <a:t>s</a:t>
            </a:r>
            <a:endParaRPr/>
          </a:p>
        </p:txBody>
      </p:sp>
      <p:sp>
        <p:nvSpPr>
          <p:cNvPr id="302" name="Google Shape;302;p21"/>
          <p:cNvSpPr txBox="1"/>
          <p:nvPr/>
        </p:nvSpPr>
        <p:spPr>
          <a:xfrm>
            <a:off x="7564189" y="5493913"/>
            <a:ext cx="25338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A16207"/>
                </a:solidFill>
                <a:latin typeface="Roboto Medium"/>
                <a:ea typeface="Roboto Medium"/>
                <a:cs typeface="Roboto Medium"/>
                <a:sym typeface="Roboto Medium"/>
              </a:rPr>
              <a:t>Gérés efficacement sans surcoût matériel</a:t>
            </a:r>
            <a:endParaRPr/>
          </a:p>
        </p:txBody>
      </p:sp>
      <p:pic>
        <p:nvPicPr>
          <p:cNvPr descr="image.png" id="303" name="Google Shape;303;p21"/>
          <p:cNvPicPr preferRelativeResize="0"/>
          <p:nvPr/>
        </p:nvPicPr>
        <p:blipFill rotWithShape="1">
          <a:blip r:embed="rId15">
            <a:alphaModFix/>
          </a:blip>
          <a:srcRect b="0" l="0" r="0" t="0"/>
          <a:stretch/>
        </p:blipFill>
        <p:spPr>
          <a:xfrm>
            <a:off x="6489203" y="3922288"/>
            <a:ext cx="152400" cy="152400"/>
          </a:xfrm>
          <a:prstGeom prst="rect">
            <a:avLst/>
          </a:prstGeom>
          <a:noFill/>
          <a:ln>
            <a:noFill/>
          </a:ln>
        </p:spPr>
      </p:pic>
      <p:pic>
        <p:nvPicPr>
          <p:cNvPr descr="image.png" id="304" name="Google Shape;304;p21"/>
          <p:cNvPicPr preferRelativeResize="0"/>
          <p:nvPr/>
        </p:nvPicPr>
        <p:blipFill rotWithShape="1">
          <a:blip r:embed="rId16">
            <a:alphaModFix/>
          </a:blip>
          <a:srcRect b="0" l="0" r="0" t="0"/>
          <a:stretch/>
        </p:blipFill>
        <p:spPr>
          <a:xfrm>
            <a:off x="6489203" y="4398538"/>
            <a:ext cx="171450" cy="152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descr="image.png" id="309" name="Google Shape;309;p22"/>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310" name="Google Shape;310;p22"/>
          <p:cNvPicPr preferRelativeResize="0"/>
          <p:nvPr/>
        </p:nvPicPr>
        <p:blipFill rotWithShape="1">
          <a:blip r:embed="rId4">
            <a:alphaModFix/>
          </a:blip>
          <a:srcRect b="0" l="0" r="0" t="0"/>
          <a:stretch/>
        </p:blipFill>
        <p:spPr>
          <a:xfrm>
            <a:off x="6381750" y="2157412"/>
            <a:ext cx="5143500" cy="3619500"/>
          </a:xfrm>
          <a:prstGeom prst="rect">
            <a:avLst/>
          </a:prstGeom>
          <a:noFill/>
          <a:ln>
            <a:noFill/>
          </a:ln>
        </p:spPr>
      </p:pic>
      <p:sp>
        <p:nvSpPr>
          <p:cNvPr id="311" name="Google Shape;311;p22"/>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2"/>
          <p:cNvSpPr txBox="1"/>
          <p:nvPr/>
        </p:nvSpPr>
        <p:spPr>
          <a:xfrm>
            <a:off x="666750" y="533400"/>
            <a:ext cx="114015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1E3A8A"/>
                </a:solidFill>
                <a:latin typeface="Montserrat SemiBold"/>
                <a:ea typeface="Montserrat SemiBold"/>
                <a:cs typeface="Montserrat SemiBold"/>
                <a:sym typeface="Montserrat SemiBold"/>
              </a:rPr>
              <a:t>Démonstration</a:t>
            </a:r>
            <a:endParaRPr/>
          </a:p>
        </p:txBody>
      </p:sp>
      <p:sp>
        <p:nvSpPr>
          <p:cNvPr id="313" name="Google Shape;313;p22"/>
          <p:cNvSpPr/>
          <p:nvPr/>
        </p:nvSpPr>
        <p:spPr>
          <a:xfrm>
            <a:off x="5715000" y="833437"/>
            <a:ext cx="762000" cy="381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2"/>
          <p:cNvSpPr txBox="1"/>
          <p:nvPr/>
        </p:nvSpPr>
        <p:spPr>
          <a:xfrm>
            <a:off x="666750" y="6515100"/>
            <a:ext cx="8858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Démonstration</a:t>
            </a:r>
            <a:endParaRPr/>
          </a:p>
        </p:txBody>
      </p:sp>
      <p:sp>
        <p:nvSpPr>
          <p:cNvPr id="315" name="Google Shape;315;p22"/>
          <p:cNvSpPr txBox="1"/>
          <p:nvPr/>
        </p:nvSpPr>
        <p:spPr>
          <a:xfrm>
            <a:off x="11115675" y="6515100"/>
            <a:ext cx="88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a:t>
            </a:r>
            <a:r>
              <a:rPr lang="en-US" sz="1050">
                <a:solidFill>
                  <a:srgbClr val="94A3B8"/>
                </a:solidFill>
                <a:latin typeface="Roboto"/>
                <a:ea typeface="Roboto"/>
                <a:cs typeface="Roboto"/>
                <a:sym typeface="Roboto"/>
              </a:rPr>
              <a:t>9</a:t>
            </a:r>
            <a:endParaRPr/>
          </a:p>
        </p:txBody>
      </p:sp>
      <p:pic>
        <p:nvPicPr>
          <p:cNvPr descr="image.png" id="316" name="Google Shape;316;p22"/>
          <p:cNvPicPr preferRelativeResize="0"/>
          <p:nvPr/>
        </p:nvPicPr>
        <p:blipFill rotWithShape="1">
          <a:blip r:embed="rId5">
            <a:alphaModFix/>
          </a:blip>
          <a:srcRect b="0" l="0" r="0" t="0"/>
          <a:stretch/>
        </p:blipFill>
        <p:spPr>
          <a:xfrm>
            <a:off x="6381750" y="2157412"/>
            <a:ext cx="5143500" cy="3619500"/>
          </a:xfrm>
          <a:prstGeom prst="rect">
            <a:avLst/>
          </a:prstGeom>
          <a:noFill/>
          <a:ln>
            <a:noFill/>
          </a:ln>
        </p:spPr>
      </p:pic>
      <p:sp>
        <p:nvSpPr>
          <p:cNvPr id="317" name="Google Shape;317;p22"/>
          <p:cNvSpPr txBox="1"/>
          <p:nvPr/>
        </p:nvSpPr>
        <p:spPr>
          <a:xfrm>
            <a:off x="666750" y="2102197"/>
            <a:ext cx="5400600" cy="277200"/>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lang="en-US" sz="1800">
                <a:solidFill>
                  <a:srgbClr val="1E3A8A"/>
                </a:solidFill>
                <a:latin typeface="Montserrat SemiBold"/>
                <a:ea typeface="Montserrat SemiBold"/>
                <a:cs typeface="Montserrat SemiBold"/>
                <a:sym typeface="Montserrat SemiBold"/>
              </a:rPr>
              <a:t> </a:t>
            </a:r>
            <a:r>
              <a:rPr b="0" i="0" lang="en-US" sz="1800" u="none" cap="none" strike="noStrike">
                <a:solidFill>
                  <a:srgbClr val="1E3A8A"/>
                </a:solidFill>
                <a:latin typeface="Montserrat SemiBold"/>
                <a:ea typeface="Montserrat SemiBold"/>
                <a:cs typeface="Montserrat SemiBold"/>
                <a:sym typeface="Montserrat SemiBold"/>
              </a:rPr>
              <a:t>Dashboard Administrateur</a:t>
            </a:r>
            <a:endParaRPr/>
          </a:p>
        </p:txBody>
      </p:sp>
      <p:sp>
        <p:nvSpPr>
          <p:cNvPr id="318" name="Google Shape;318;p22"/>
          <p:cNvSpPr txBox="1"/>
          <p:nvPr/>
        </p:nvSpPr>
        <p:spPr>
          <a:xfrm>
            <a:off x="666750" y="2521297"/>
            <a:ext cx="51435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Vue centralisée permettant de :</a:t>
            </a:r>
            <a:endParaRPr/>
          </a:p>
        </p:txBody>
      </p:sp>
      <p:sp>
        <p:nvSpPr>
          <p:cNvPr id="319" name="Google Shape;319;p22"/>
          <p:cNvSpPr txBox="1"/>
          <p:nvPr/>
        </p:nvSpPr>
        <p:spPr>
          <a:xfrm>
            <a:off x="666750" y="4247100"/>
            <a:ext cx="5898300" cy="277200"/>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lang="en-US" sz="1800">
                <a:solidFill>
                  <a:srgbClr val="1E3A8A"/>
                </a:solidFill>
                <a:latin typeface="Montserrat SemiBold"/>
                <a:ea typeface="Montserrat SemiBold"/>
                <a:cs typeface="Montserrat SemiBold"/>
                <a:sym typeface="Montserrat SemiBold"/>
              </a:rPr>
              <a:t> </a:t>
            </a:r>
            <a:r>
              <a:rPr b="0" i="0" lang="en-US" sz="1800" u="none" cap="none" strike="noStrike">
                <a:solidFill>
                  <a:srgbClr val="1E3A8A"/>
                </a:solidFill>
                <a:latin typeface="Montserrat SemiBold"/>
                <a:ea typeface="Montserrat SemiBold"/>
                <a:cs typeface="Montserrat SemiBold"/>
                <a:sym typeface="Montserrat SemiBold"/>
              </a:rPr>
              <a:t>Interface Utilisateur</a:t>
            </a:r>
            <a:endParaRPr/>
          </a:p>
        </p:txBody>
      </p:sp>
      <p:sp>
        <p:nvSpPr>
          <p:cNvPr id="320" name="Google Shape;320;p22"/>
          <p:cNvSpPr txBox="1"/>
          <p:nvPr/>
        </p:nvSpPr>
        <p:spPr>
          <a:xfrm>
            <a:off x="666750" y="4666208"/>
            <a:ext cx="51435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Portail dédié pour :</a:t>
            </a:r>
            <a:endParaRPr/>
          </a:p>
        </p:txBody>
      </p:sp>
      <p:pic>
        <p:nvPicPr>
          <p:cNvPr descr="image.png" id="321" name="Google Shape;321;p22"/>
          <p:cNvPicPr preferRelativeResize="0"/>
          <p:nvPr/>
        </p:nvPicPr>
        <p:blipFill rotWithShape="1">
          <a:blip r:embed="rId6">
            <a:alphaModFix/>
          </a:blip>
          <a:srcRect b="0" l="0" r="0" t="0"/>
          <a:stretch/>
        </p:blipFill>
        <p:spPr>
          <a:xfrm>
            <a:off x="666750" y="2121247"/>
            <a:ext cx="228600" cy="228600"/>
          </a:xfrm>
          <a:prstGeom prst="rect">
            <a:avLst/>
          </a:prstGeom>
          <a:noFill/>
          <a:ln>
            <a:noFill/>
          </a:ln>
        </p:spPr>
      </p:pic>
      <p:sp>
        <p:nvSpPr>
          <p:cNvPr id="322" name="Google Shape;322;p22"/>
          <p:cNvSpPr txBox="1"/>
          <p:nvPr/>
        </p:nvSpPr>
        <p:spPr>
          <a:xfrm>
            <a:off x="800100" y="2908935"/>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Roboto"/>
                <a:ea typeface="Roboto"/>
                <a:cs typeface="Roboto"/>
                <a:sym typeface="Roboto"/>
              </a:rPr>
              <a:t>•</a:t>
            </a:r>
            <a:endParaRPr/>
          </a:p>
        </p:txBody>
      </p:sp>
      <p:sp>
        <p:nvSpPr>
          <p:cNvPr id="323" name="Google Shape;323;p22"/>
          <p:cNvSpPr txBox="1"/>
          <p:nvPr/>
        </p:nvSpPr>
        <p:spPr>
          <a:xfrm>
            <a:off x="857250" y="2909875"/>
            <a:ext cx="5359500" cy="20790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Visualiser le flux des caméras (Hikvision &amp; autres) en temps réel.</a:t>
            </a:r>
            <a:endParaRPr/>
          </a:p>
        </p:txBody>
      </p:sp>
      <p:sp>
        <p:nvSpPr>
          <p:cNvPr id="324" name="Google Shape;324;p22"/>
          <p:cNvSpPr txBox="1"/>
          <p:nvPr/>
        </p:nvSpPr>
        <p:spPr>
          <a:xfrm>
            <a:off x="800100" y="3297525"/>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Roboto"/>
                <a:ea typeface="Roboto"/>
                <a:cs typeface="Roboto"/>
                <a:sym typeface="Roboto"/>
              </a:rPr>
              <a:t>•</a:t>
            </a:r>
            <a:endParaRPr/>
          </a:p>
        </p:txBody>
      </p:sp>
      <p:sp>
        <p:nvSpPr>
          <p:cNvPr id="325" name="Google Shape;325;p22"/>
          <p:cNvSpPr txBox="1"/>
          <p:nvPr/>
        </p:nvSpPr>
        <p:spPr>
          <a:xfrm>
            <a:off x="857250" y="3298477"/>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Gérer la base de données étudiants.</a:t>
            </a:r>
            <a:endParaRPr/>
          </a:p>
        </p:txBody>
      </p:sp>
      <p:sp>
        <p:nvSpPr>
          <p:cNvPr id="326" name="Google Shape;326;p22"/>
          <p:cNvSpPr txBox="1"/>
          <p:nvPr/>
        </p:nvSpPr>
        <p:spPr>
          <a:xfrm>
            <a:off x="800100" y="3686115"/>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Roboto"/>
                <a:ea typeface="Roboto"/>
                <a:cs typeface="Roboto"/>
                <a:sym typeface="Roboto"/>
              </a:rPr>
              <a:t>•</a:t>
            </a:r>
            <a:endParaRPr/>
          </a:p>
        </p:txBody>
      </p:sp>
      <p:sp>
        <p:nvSpPr>
          <p:cNvPr id="327" name="Google Shape;327;p22"/>
          <p:cNvSpPr txBox="1"/>
          <p:nvPr/>
        </p:nvSpPr>
        <p:spPr>
          <a:xfrm>
            <a:off x="857250" y="3687067"/>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Consulter les historiques de présence.</a:t>
            </a:r>
            <a:endParaRPr/>
          </a:p>
        </p:txBody>
      </p:sp>
      <p:pic>
        <p:nvPicPr>
          <p:cNvPr descr="image.png" id="328" name="Google Shape;328;p22"/>
          <p:cNvPicPr preferRelativeResize="0"/>
          <p:nvPr/>
        </p:nvPicPr>
        <p:blipFill rotWithShape="1">
          <a:blip r:embed="rId7">
            <a:alphaModFix/>
          </a:blip>
          <a:srcRect b="0" l="0" r="0" t="0"/>
          <a:stretch/>
        </p:blipFill>
        <p:spPr>
          <a:xfrm>
            <a:off x="666750" y="4266158"/>
            <a:ext cx="285750" cy="228600"/>
          </a:xfrm>
          <a:prstGeom prst="rect">
            <a:avLst/>
          </a:prstGeom>
          <a:noFill/>
          <a:ln>
            <a:noFill/>
          </a:ln>
        </p:spPr>
      </p:pic>
      <p:sp>
        <p:nvSpPr>
          <p:cNvPr id="329" name="Google Shape;329;p22"/>
          <p:cNvSpPr txBox="1"/>
          <p:nvPr/>
        </p:nvSpPr>
        <p:spPr>
          <a:xfrm>
            <a:off x="800100" y="5053845"/>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Roboto"/>
                <a:ea typeface="Roboto"/>
                <a:cs typeface="Roboto"/>
                <a:sym typeface="Roboto"/>
              </a:rPr>
              <a:t>•</a:t>
            </a:r>
            <a:endParaRPr/>
          </a:p>
        </p:txBody>
      </p:sp>
      <p:sp>
        <p:nvSpPr>
          <p:cNvPr id="330" name="Google Shape;330;p22"/>
          <p:cNvSpPr txBox="1"/>
          <p:nvPr/>
        </p:nvSpPr>
        <p:spPr>
          <a:xfrm>
            <a:off x="857250" y="5054798"/>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L'enrôlement des nouveaux étudiants (Digitalisation).</a:t>
            </a:r>
            <a:endParaRPr/>
          </a:p>
        </p:txBody>
      </p:sp>
      <p:sp>
        <p:nvSpPr>
          <p:cNvPr id="331" name="Google Shape;331;p22"/>
          <p:cNvSpPr txBox="1"/>
          <p:nvPr/>
        </p:nvSpPr>
        <p:spPr>
          <a:xfrm>
            <a:off x="800100" y="5442436"/>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Roboto"/>
                <a:ea typeface="Roboto"/>
                <a:cs typeface="Roboto"/>
                <a:sym typeface="Roboto"/>
              </a:rPr>
              <a:t>•</a:t>
            </a:r>
            <a:endParaRPr/>
          </a:p>
        </p:txBody>
      </p:sp>
      <p:sp>
        <p:nvSpPr>
          <p:cNvPr id="332" name="Google Shape;332;p22"/>
          <p:cNvSpPr txBox="1"/>
          <p:nvPr/>
        </p:nvSpPr>
        <p:spPr>
          <a:xfrm>
            <a:off x="857250" y="5443388"/>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La consultation des informations personnelles.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descr="image.png" id="337" name="Google Shape;337;p23"/>
          <p:cNvPicPr preferRelativeResize="0"/>
          <p:nvPr/>
        </p:nvPicPr>
        <p:blipFill rotWithShape="1">
          <a:blip r:embed="rId3">
            <a:alphaModFix/>
          </a:blip>
          <a:srcRect b="0" l="0" r="0" t="0"/>
          <a:stretch/>
        </p:blipFill>
        <p:spPr>
          <a:xfrm>
            <a:off x="666750" y="6362700"/>
            <a:ext cx="10858500" cy="304800"/>
          </a:xfrm>
          <a:prstGeom prst="rect">
            <a:avLst/>
          </a:prstGeom>
          <a:noFill/>
          <a:ln>
            <a:noFill/>
          </a:ln>
        </p:spPr>
      </p:pic>
      <p:pic>
        <p:nvPicPr>
          <p:cNvPr descr="image.png" id="338" name="Google Shape;338;p23"/>
          <p:cNvPicPr preferRelativeResize="0"/>
          <p:nvPr/>
        </p:nvPicPr>
        <p:blipFill rotWithShape="1">
          <a:blip r:embed="rId4">
            <a:alphaModFix/>
          </a:blip>
          <a:srcRect b="0" l="0" r="0" t="0"/>
          <a:stretch/>
        </p:blipFill>
        <p:spPr>
          <a:xfrm>
            <a:off x="1809750" y="3111698"/>
            <a:ext cx="8572500" cy="1699170"/>
          </a:xfrm>
          <a:prstGeom prst="rect">
            <a:avLst/>
          </a:prstGeom>
          <a:noFill/>
          <a:ln>
            <a:noFill/>
          </a:ln>
        </p:spPr>
      </p:pic>
      <p:sp>
        <p:nvSpPr>
          <p:cNvPr id="339" name="Google Shape;339;p23"/>
          <p:cNvSpPr/>
          <p:nvPr/>
        </p:nvSpPr>
        <p:spPr>
          <a:xfrm>
            <a:off x="0" y="0"/>
            <a:ext cx="12192000" cy="5715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3"/>
          <p:cNvSpPr txBox="1"/>
          <p:nvPr/>
        </p:nvSpPr>
        <p:spPr>
          <a:xfrm>
            <a:off x="395287" y="1256407"/>
            <a:ext cx="11401425" cy="552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1E3A8A"/>
                </a:solidFill>
                <a:latin typeface="Montserrat"/>
                <a:ea typeface="Montserrat"/>
                <a:cs typeface="Montserrat"/>
                <a:sym typeface="Montserrat"/>
              </a:rPr>
              <a:t>Conclusion</a:t>
            </a:r>
            <a:endParaRPr/>
          </a:p>
        </p:txBody>
      </p:sp>
      <p:sp>
        <p:nvSpPr>
          <p:cNvPr id="341" name="Google Shape;341;p23"/>
          <p:cNvSpPr txBox="1"/>
          <p:nvPr/>
        </p:nvSpPr>
        <p:spPr>
          <a:xfrm>
            <a:off x="666750" y="5477619"/>
            <a:ext cx="10858500"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1E3A8A"/>
                </a:solidFill>
                <a:latin typeface="Roboto SemiBold"/>
                <a:ea typeface="Roboto SemiBold"/>
                <a:cs typeface="Roboto SemiBold"/>
                <a:sym typeface="Roboto SemiBold"/>
              </a:rPr>
              <a:t>MERCI DE VOTRE ATTENTION</a:t>
            </a:r>
            <a:endParaRPr/>
          </a:p>
        </p:txBody>
      </p:sp>
      <p:sp>
        <p:nvSpPr>
          <p:cNvPr id="342" name="Google Shape;342;p23"/>
          <p:cNvSpPr txBox="1"/>
          <p:nvPr/>
        </p:nvSpPr>
        <p:spPr>
          <a:xfrm>
            <a:off x="666750" y="6515100"/>
            <a:ext cx="163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Conclusion</a:t>
            </a:r>
            <a:endParaRPr/>
          </a:p>
        </p:txBody>
      </p:sp>
      <p:sp>
        <p:nvSpPr>
          <p:cNvPr id="343" name="Google Shape;343;p23"/>
          <p:cNvSpPr txBox="1"/>
          <p:nvPr/>
        </p:nvSpPr>
        <p:spPr>
          <a:xfrm>
            <a:off x="11115675" y="6515100"/>
            <a:ext cx="90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Roboto"/>
                <a:ea typeface="Roboto"/>
                <a:cs typeface="Roboto"/>
                <a:sym typeface="Roboto"/>
              </a:rPr>
              <a:t>Page </a:t>
            </a:r>
            <a:r>
              <a:rPr lang="en-US" sz="1050">
                <a:solidFill>
                  <a:srgbClr val="94A3B8"/>
                </a:solidFill>
                <a:latin typeface="Roboto"/>
                <a:ea typeface="Roboto"/>
                <a:cs typeface="Roboto"/>
                <a:sym typeface="Roboto"/>
              </a:rPr>
              <a:t>10</a:t>
            </a:r>
            <a:endParaRPr/>
          </a:p>
        </p:txBody>
      </p:sp>
      <p:sp>
        <p:nvSpPr>
          <p:cNvPr id="344" name="Google Shape;344;p23"/>
          <p:cNvSpPr txBox="1"/>
          <p:nvPr/>
        </p:nvSpPr>
        <p:spPr>
          <a:xfrm>
            <a:off x="1809750" y="2094600"/>
            <a:ext cx="98697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475569"/>
                </a:solidFill>
              </a:rPr>
              <a:t>"Le système développé constitue une réponse concrète aux défis de gestion centralisé</a:t>
            </a:r>
            <a:r>
              <a:rPr lang="en-US" sz="1800">
                <a:solidFill>
                  <a:srgbClr val="475569"/>
                </a:solidFill>
              </a:rPr>
              <a:t>e de plusieurs sites</a:t>
            </a:r>
            <a:r>
              <a:rPr i="0" lang="en-US" sz="1800" u="none" cap="none" strike="noStrike">
                <a:solidFill>
                  <a:srgbClr val="475569"/>
                </a:solidFill>
              </a:rPr>
              <a:t> "</a:t>
            </a:r>
            <a:endParaRPr/>
          </a:p>
        </p:txBody>
      </p:sp>
      <p:sp>
        <p:nvSpPr>
          <p:cNvPr id="345" name="Google Shape;345;p23"/>
          <p:cNvSpPr txBox="1"/>
          <p:nvPr/>
        </p:nvSpPr>
        <p:spPr>
          <a:xfrm>
            <a:off x="2105025" y="3349823"/>
            <a:ext cx="8039100" cy="274290"/>
          </a:xfrm>
          <a:prstGeom prst="rect">
            <a:avLst/>
          </a:prstGeom>
          <a:noFill/>
          <a:ln>
            <a:noFill/>
          </a:ln>
        </p:spPr>
        <p:txBody>
          <a:bodyPr anchorCtr="0" anchor="t" bIns="0" lIns="295275"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Objectifs de rapidité et fiabilité atteints.</a:t>
            </a:r>
            <a:endParaRPr/>
          </a:p>
        </p:txBody>
      </p:sp>
      <p:sp>
        <p:nvSpPr>
          <p:cNvPr id="346" name="Google Shape;346;p23"/>
          <p:cNvSpPr txBox="1"/>
          <p:nvPr/>
        </p:nvSpPr>
        <p:spPr>
          <a:xfrm>
            <a:off x="2105025" y="3766988"/>
            <a:ext cx="8039100" cy="274290"/>
          </a:xfrm>
          <a:prstGeom prst="rect">
            <a:avLst/>
          </a:prstGeom>
          <a:noFill/>
          <a:ln>
            <a:noFill/>
          </a:ln>
        </p:spPr>
        <p:txBody>
          <a:bodyPr anchorCtr="0" anchor="t" bIns="0" lIns="295275"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Roboto"/>
                <a:ea typeface="Roboto"/>
                <a:cs typeface="Roboto"/>
                <a:sym typeface="Roboto"/>
              </a:rPr>
              <a:t>Sécurisation efficace contre la fraude.</a:t>
            </a:r>
            <a:endParaRPr/>
          </a:p>
        </p:txBody>
      </p:sp>
      <p:sp>
        <p:nvSpPr>
          <p:cNvPr id="347" name="Google Shape;347;p23"/>
          <p:cNvSpPr txBox="1"/>
          <p:nvPr/>
        </p:nvSpPr>
        <p:spPr>
          <a:xfrm>
            <a:off x="2105025" y="4184153"/>
            <a:ext cx="8039100" cy="207900"/>
          </a:xfrm>
          <a:prstGeom prst="rect">
            <a:avLst/>
          </a:prstGeom>
          <a:noFill/>
          <a:ln>
            <a:noFill/>
          </a:ln>
        </p:spPr>
        <p:txBody>
          <a:bodyPr anchorCtr="0" anchor="t" bIns="0" lIns="295275"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475569"/>
                </a:solidFill>
                <a:latin typeface="Roboto"/>
                <a:ea typeface="Roboto"/>
                <a:cs typeface="Roboto"/>
                <a:sym typeface="Roboto"/>
              </a:rPr>
              <a:t>Perspective :</a:t>
            </a:r>
            <a:r>
              <a:rPr b="0" i="0" lang="en-US" sz="1350" u="none" cap="none" strike="noStrike">
                <a:solidFill>
                  <a:srgbClr val="475569"/>
                </a:solidFill>
                <a:latin typeface="Roboto"/>
                <a:ea typeface="Roboto"/>
                <a:cs typeface="Roboto"/>
                <a:sym typeface="Roboto"/>
              </a:rPr>
              <a:t> Extension vers une gestion multi-sites et application </a:t>
            </a:r>
            <a:r>
              <a:rPr lang="en-US" sz="1350">
                <a:solidFill>
                  <a:srgbClr val="475569"/>
                </a:solidFill>
                <a:latin typeface="Roboto"/>
                <a:ea typeface="Roboto"/>
                <a:cs typeface="Roboto"/>
                <a:sym typeface="Roboto"/>
              </a:rPr>
              <a:t>web</a:t>
            </a:r>
            <a:r>
              <a:rPr b="0" i="0" lang="en-US" sz="1350" u="none" cap="none" strike="noStrike">
                <a:solidFill>
                  <a:srgbClr val="475569"/>
                </a:solidFill>
                <a:latin typeface="Roboto"/>
                <a:ea typeface="Roboto"/>
                <a:cs typeface="Roboto"/>
                <a:sym typeface="Roboto"/>
              </a:rPr>
              <a:t>.</a:t>
            </a:r>
            <a:endParaRPr/>
          </a:p>
        </p:txBody>
      </p:sp>
      <p:pic>
        <p:nvPicPr>
          <p:cNvPr descr="image.png" id="348" name="Google Shape;348;p23"/>
          <p:cNvPicPr preferRelativeResize="0"/>
          <p:nvPr/>
        </p:nvPicPr>
        <p:blipFill rotWithShape="1">
          <a:blip r:embed="rId5">
            <a:alphaModFix/>
          </a:blip>
          <a:srcRect b="0" l="0" r="0" t="0"/>
          <a:stretch/>
        </p:blipFill>
        <p:spPr>
          <a:xfrm>
            <a:off x="2105025" y="3392685"/>
            <a:ext cx="152400" cy="180975"/>
          </a:xfrm>
          <a:prstGeom prst="rect">
            <a:avLst/>
          </a:prstGeom>
          <a:noFill/>
          <a:ln>
            <a:noFill/>
          </a:ln>
        </p:spPr>
      </p:pic>
      <p:pic>
        <p:nvPicPr>
          <p:cNvPr descr="image.png" id="349" name="Google Shape;349;p23"/>
          <p:cNvPicPr preferRelativeResize="0"/>
          <p:nvPr/>
        </p:nvPicPr>
        <p:blipFill rotWithShape="1">
          <a:blip r:embed="rId5">
            <a:alphaModFix/>
          </a:blip>
          <a:srcRect b="0" l="0" r="0" t="0"/>
          <a:stretch/>
        </p:blipFill>
        <p:spPr>
          <a:xfrm>
            <a:off x="2105025" y="3809851"/>
            <a:ext cx="152400" cy="180975"/>
          </a:xfrm>
          <a:prstGeom prst="rect">
            <a:avLst/>
          </a:prstGeom>
          <a:noFill/>
          <a:ln>
            <a:noFill/>
          </a:ln>
        </p:spPr>
      </p:pic>
      <p:pic>
        <p:nvPicPr>
          <p:cNvPr descr="image.png" id="350" name="Google Shape;350;p23"/>
          <p:cNvPicPr preferRelativeResize="0"/>
          <p:nvPr/>
        </p:nvPicPr>
        <p:blipFill rotWithShape="1">
          <a:blip r:embed="rId6">
            <a:alphaModFix/>
          </a:blip>
          <a:srcRect b="0" l="0" r="0" t="0"/>
          <a:stretch/>
        </p:blipFill>
        <p:spPr>
          <a:xfrm>
            <a:off x="2105025" y="4227016"/>
            <a:ext cx="152400" cy="18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